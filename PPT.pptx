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4" r:id="rId8"/>
    <p:sldId id="265" r:id="rId9"/>
    <p:sldId id="268" r:id="rId10"/>
    <p:sldId id="269" r:id="rId11"/>
    <p:sldId id="270" r:id="rId12"/>
    <p:sldId id="271" r:id="rId13"/>
    <p:sldId id="330" r:id="rId14"/>
    <p:sldId id="333" r:id="rId15"/>
    <p:sldId id="339" r:id="rId16"/>
    <p:sldId id="370" r:id="rId17"/>
    <p:sldId id="344" r:id="rId18"/>
    <p:sldId id="334" r:id="rId19"/>
    <p:sldId id="335" r:id="rId20"/>
    <p:sldId id="336" r:id="rId21"/>
    <p:sldId id="277" r:id="rId22"/>
    <p:sldId id="279" r:id="rId23"/>
    <p:sldId id="281" r:id="rId24"/>
    <p:sldId id="282" r:id="rId25"/>
    <p:sldId id="283" r:id="rId26"/>
    <p:sldId id="284" r:id="rId27"/>
    <p:sldId id="285" r:id="rId28"/>
    <p:sldId id="286" r:id="rId29"/>
    <p:sldId id="292" r:id="rId30"/>
    <p:sldId id="293" r:id="rId31"/>
    <p:sldId id="294" r:id="rId32"/>
    <p:sldId id="295" r:id="rId33"/>
    <p:sldId id="345" r:id="rId34"/>
    <p:sldId id="346" r:id="rId35"/>
    <p:sldId id="347" r:id="rId36"/>
    <p:sldId id="348" r:id="rId37"/>
    <p:sldId id="349" r:id="rId38"/>
    <p:sldId id="350" r:id="rId39"/>
    <p:sldId id="364" r:id="rId40"/>
    <p:sldId id="365" r:id="rId41"/>
    <p:sldId id="352" r:id="rId42"/>
    <p:sldId id="353" r:id="rId43"/>
    <p:sldId id="354" r:id="rId44"/>
    <p:sldId id="371" r:id="rId45"/>
    <p:sldId id="304" r:id="rId46"/>
    <p:sldId id="305" r:id="rId47"/>
    <p:sldId id="323" r:id="rId48"/>
    <p:sldId id="324" r:id="rId49"/>
    <p:sldId id="32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27272"/>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8132" autoAdjust="0"/>
    <p:restoredTop sz="94660"/>
  </p:normalViewPr>
  <p:slideViewPr>
    <p:cSldViewPr snapToGrid="0">
      <p:cViewPr varScale="1">
        <p:scale>
          <a:sx n="87" d="100"/>
          <a:sy n="87" d="100"/>
        </p:scale>
        <p:origin x="-384" y="-8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254086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2994852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2756030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3911242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695408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3769495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151744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312629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1936079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640024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ED4801-0686-452D-9B47-248796837F07}" type="datetimeFigureOut">
              <a:rPr lang="en-IN" smtClean="0"/>
              <a:pPr/>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133425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ED4801-0686-452D-9B47-248796837F07}" type="datetimeFigureOut">
              <a:rPr lang="en-IN" smtClean="0"/>
              <a:pPr/>
              <a:t>29-12-2025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B9BA72-3BBB-4BE2-AA8E-6FF9DA0DA28E}" type="slidenum">
              <a:rPr lang="en-IN" smtClean="0"/>
              <a:pPr/>
              <a:t>‹#›</a:t>
            </a:fld>
            <a:endParaRPr lang="en-IN"/>
          </a:p>
        </p:txBody>
      </p:sp>
    </p:spTree>
    <p:extLst>
      <p:ext uri="{BB962C8B-B14F-4D97-AF65-F5344CB8AC3E}">
        <p14:creationId xmlns:p14="http://schemas.microsoft.com/office/powerpoint/2010/main" xmlns="" val="3796275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7808" y="2838736"/>
            <a:ext cx="10949749" cy="597408"/>
          </a:xfrm>
        </p:spPr>
        <p:txBody>
          <a:bodyPr>
            <a:noAutofit/>
          </a:bodyPr>
          <a:lstStyle/>
          <a:p>
            <a:pPr defTabSz="996950">
              <a:lnSpc>
                <a:spcPct val="150000"/>
              </a:lnSpc>
            </a:pPr>
            <a:r>
              <a:rPr lang="en-US" sz="3600" b="1" dirty="0" smtClean="0">
                <a:latin typeface="Times New Roman" panose="02020603050405020304" pitchFamily="18" charset="0"/>
                <a:cs typeface="Times New Roman" panose="02020603050405020304" pitchFamily="18" charset="0"/>
              </a:rPr>
              <a:t>DIRECT FARM MARKET</a:t>
            </a:r>
            <a:endParaRPr lang="en-US" sz="36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xmlns="" val="19735222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4" name="Table 3"/>
          <p:cNvGraphicFramePr>
            <a:graphicFrameLocks noGrp="1"/>
          </p:cNvGraphicFramePr>
          <p:nvPr>
            <p:extLst>
              <p:ext uri="{D42A27DB-BD31-4B8C-83A1-F6EECF244321}">
                <p14:modId xmlns:p14="http://schemas.microsoft.com/office/powerpoint/2010/main" xmlns="" val="1675939737"/>
              </p:ext>
            </p:extLst>
          </p:nvPr>
        </p:nvGraphicFramePr>
        <p:xfrm>
          <a:off x="582669" y="516630"/>
          <a:ext cx="11036187" cy="5816319"/>
        </p:xfrm>
        <a:graphic>
          <a:graphicData uri="http://schemas.openxmlformats.org/drawingml/2006/table">
            <a:tbl>
              <a:tblPr firstRow="1" bandRow="1">
                <a:tableStyleId>{5940675A-B579-460E-94D1-54222C63F5DA}</a:tableStyleId>
              </a:tblPr>
              <a:tblGrid>
                <a:gridCol w="3678729"/>
                <a:gridCol w="3678729"/>
                <a:gridCol w="3678729"/>
              </a:tblGrid>
              <a:tr h="617371">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ABSTRACT</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SYSTEM  ARCHITECTURE</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HARDWARE</a:t>
                      </a:r>
                      <a:r>
                        <a:rPr lang="en-IN" sz="1800" b="1" baseline="0" dirty="0" smtClean="0">
                          <a:latin typeface="Times New Roman" panose="02020603050405020304" pitchFamily="18" charset="0"/>
                          <a:cs typeface="Times New Roman" panose="02020603050405020304" pitchFamily="18" charset="0"/>
                        </a:rPr>
                        <a:t> /SOFTWARE </a:t>
                      </a:r>
                      <a:r>
                        <a:rPr lang="en-IN" sz="1800" b="1" dirty="0" smtClean="0">
                          <a:latin typeface="Times New Roman" panose="02020603050405020304" pitchFamily="18" charset="0"/>
                          <a:cs typeface="Times New Roman" panose="02020603050405020304" pitchFamily="18" charset="0"/>
                        </a:rPr>
                        <a:t>REQUIREMENT </a:t>
                      </a:r>
                      <a:endParaRPr lang="en-IN" dirty="0" smtClean="0"/>
                    </a:p>
                  </a:txBody>
                  <a:tcPr/>
                </a:tc>
              </a:tr>
              <a:tr h="617371">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DOMAIN INTRODUCTION</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FLOWCHART</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SCOPE PROJECT</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smtClean="0"/>
                    </a:p>
                  </a:txBody>
                  <a:tcPr/>
                </a:tc>
              </a:tr>
              <a:tr h="617371">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INTRODUCTION</a:t>
                      </a:r>
                      <a:endParaRPr lang="en-IN" dirty="0" smtClean="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USECASE- DIAGRAM </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CONCLUSION </a:t>
                      </a:r>
                      <a:endParaRPr lang="en-IN" dirty="0"/>
                    </a:p>
                  </a:txBody>
                  <a:tcPr/>
                </a:tc>
              </a:tr>
              <a:tr h="617371">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OBJECTIVES</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ER DIAGRAM </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FUTURE ENCHANCEMENT </a:t>
                      </a:r>
                      <a:endParaRPr lang="en-IN" dirty="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EXISTING SYSTEM</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SEQUENCE DIAGRAM</a:t>
                      </a:r>
                      <a:endParaRPr lang="en-IN" sz="1800" dirty="0" smtClean="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PROBLEM STATEMENT</a:t>
                      </a:r>
                      <a:endParaRPr lang="en-IN" dirty="0" smtClean="0"/>
                    </a:p>
                  </a:txBody>
                  <a:tcPr/>
                </a:tc>
              </a:tr>
              <a:tr h="644072">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DISADAVANTAGE</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MODULES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SAMPLE</a:t>
                      </a:r>
                      <a:r>
                        <a:rPr lang="en-US" sz="1800" b="1" baseline="0" dirty="0" smtClean="0">
                          <a:latin typeface="Times New Roman" panose="02020603050405020304" pitchFamily="18" charset="0"/>
                          <a:cs typeface="Times New Roman" panose="02020603050405020304" pitchFamily="18" charset="0"/>
                        </a:rPr>
                        <a:t> CODE</a:t>
                      </a:r>
                      <a:endParaRPr lang="en-IN" dirty="0" smtClean="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PROPOSED SYSTEM</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smtClean="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MODULES DESCRIPTION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SAMPLE</a:t>
                      </a:r>
                      <a:r>
                        <a:rPr lang="en-US" sz="1800" b="1" baseline="0" dirty="0" smtClean="0">
                          <a:latin typeface="Times New Roman" panose="02020603050405020304" pitchFamily="18" charset="0"/>
                          <a:cs typeface="Times New Roman" panose="02020603050405020304" pitchFamily="18" charset="0"/>
                        </a:rPr>
                        <a:t> SCREENSHOT </a:t>
                      </a:r>
                      <a:endParaRPr lang="en-IN" dirty="0" smtClean="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ADAVANTAGE</a:t>
                      </a: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LITECTURE SURVEY(1-5) </a:t>
                      </a:r>
                      <a:endParaRPr lang="en-IN" dirty="0" smtClean="0"/>
                    </a:p>
                  </a:txBody>
                  <a:tcPr/>
                </a:tc>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REFERENCE</a:t>
                      </a:r>
                      <a:endParaRPr lang="en-IN" dirty="0"/>
                    </a:p>
                  </a:txBody>
                  <a:tcPr/>
                </a:tc>
              </a:tr>
            </a:tbl>
          </a:graphicData>
        </a:graphic>
      </p:graphicFrame>
    </p:spTree>
    <p:extLst>
      <p:ext uri="{BB962C8B-B14F-4D97-AF65-F5344CB8AC3E}">
        <p14:creationId xmlns:p14="http://schemas.microsoft.com/office/powerpoint/2010/main" xmlns="" val="26279691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795741" y="604165"/>
            <a:ext cx="2420856" cy="584775"/>
          </a:xfrm>
          <a:prstGeom prst="rect">
            <a:avLst/>
          </a:prstGeom>
        </p:spPr>
        <p:txBody>
          <a:bodyPr wrap="none">
            <a:spAutoFit/>
          </a:bodyPr>
          <a:lstStyle/>
          <a:p>
            <a:r>
              <a:rPr lang="en-US" sz="3200" b="1" dirty="0" smtClean="0">
                <a:latin typeface="Times New Roman" panose="02020603050405020304" pitchFamily="18" charset="0"/>
                <a:cs typeface="Times New Roman" panose="02020603050405020304" pitchFamily="18" charset="0"/>
              </a:rPr>
              <a:t>ABSTRACT</a:t>
            </a:r>
            <a:endParaRPr lang="en-IN" sz="3200" dirty="0"/>
          </a:p>
        </p:txBody>
      </p:sp>
      <p:sp>
        <p:nvSpPr>
          <p:cNvPr id="4" name="TextBox 3"/>
          <p:cNvSpPr txBox="1"/>
          <p:nvPr/>
        </p:nvSpPr>
        <p:spPr>
          <a:xfrm>
            <a:off x="678757" y="1830175"/>
            <a:ext cx="10844011" cy="646331"/>
          </a:xfrm>
          <a:prstGeom prst="rect">
            <a:avLst/>
          </a:prstGeom>
          <a:noFill/>
        </p:spPr>
        <p:txBody>
          <a:bodyPr wrap="square" rtlCol="0">
            <a:spAutoFit/>
          </a:bodyPr>
          <a:lstStyle/>
          <a:p>
            <a:r>
              <a:rPr lang="en-US" dirty="0"/>
              <a:t/>
            </a:r>
            <a:br>
              <a:rPr lang="en-US" dirty="0"/>
            </a:br>
            <a:endParaRPr lang="en-IN" dirty="0">
              <a:latin typeface="Times New Roman" panose="02020603050405020304" pitchFamily="18" charset="0"/>
              <a:cs typeface="Times New Roman" panose="02020603050405020304" pitchFamily="18" charset="0"/>
            </a:endParaRPr>
          </a:p>
        </p:txBody>
      </p:sp>
      <p:sp>
        <p:nvSpPr>
          <p:cNvPr id="6" name="Rectangle 2"/>
          <p:cNvSpPr>
            <a:spLocks noChangeArrowheads="1"/>
          </p:cNvSpPr>
          <p:nvPr/>
        </p:nvSpPr>
        <p:spPr bwMode="auto">
          <a:xfrm>
            <a:off x="829056" y="3537532"/>
            <a:ext cx="10145072" cy="365741"/>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578249" y="1418660"/>
            <a:ext cx="10855839" cy="461305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Direct Farm-to-Consumer Platform: A web-based system connecting farmers directly with consumers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Technology Stack: Built using HTML, CSS, JavaScript, Java, and MySQL</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Eliminates Intermediaries: Removes middlemen from agricultural supply chain</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Dual User Roles: Dedicated modules for Farmers and Consumers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Farmer Features: Product listing, inventory management, order tracking</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Consumer Features: Product browsing, shopping cart, order placement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255740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052763" y="1000984"/>
            <a:ext cx="6096000" cy="1077218"/>
          </a:xfrm>
          <a:prstGeom prst="rect">
            <a:avLst/>
          </a:prstGeom>
        </p:spPr>
        <p:txBody>
          <a:bodyPr>
            <a:spAutoFit/>
          </a:bodyPr>
          <a:lstStyle/>
          <a:p>
            <a:r>
              <a:rPr lang="en-IN" sz="3200" b="1" dirty="0" smtClean="0">
                <a:latin typeface="Times New Roman" panose="02020603050405020304" pitchFamily="18" charset="0"/>
                <a:cs typeface="Times New Roman" panose="02020603050405020304" pitchFamily="18" charset="0"/>
              </a:rPr>
              <a:t>DOMAIN INTRODUCTION</a:t>
            </a:r>
            <a:r>
              <a:rPr lang="en-IN" sz="3200" dirty="0" smtClean="0">
                <a:latin typeface="Times New Roman" panose="02020603050405020304" pitchFamily="18" charset="0"/>
                <a:cs typeface="Times New Roman" panose="02020603050405020304" pitchFamily="18" charset="0"/>
              </a:rPr>
              <a:t/>
            </a:r>
            <a:br>
              <a:rPr lang="en-IN" sz="3200" dirty="0" smtClean="0">
                <a:latin typeface="Times New Roman" panose="02020603050405020304" pitchFamily="18" charset="0"/>
                <a:cs typeface="Times New Roman" panose="02020603050405020304" pitchFamily="18" charset="0"/>
              </a:rPr>
            </a:br>
            <a:endParaRPr lang="en-IN" sz="3200" dirty="0"/>
          </a:p>
        </p:txBody>
      </p:sp>
      <p:sp>
        <p:nvSpPr>
          <p:cNvPr id="4" name="Rectangle 1"/>
          <p:cNvSpPr>
            <a:spLocks noChangeArrowheads="1"/>
          </p:cNvSpPr>
          <p:nvPr/>
        </p:nvSpPr>
        <p:spPr bwMode="auto">
          <a:xfrm>
            <a:off x="796781" y="1479834"/>
            <a:ext cx="10607964" cy="46130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Agriculture &amp; E-commerce intersection</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Farm-to-Table digital transformation</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Local food distribution systems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Rural-Urban economic bridge</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Digital agriculture technology</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Sustainable food ecosystems</a:t>
            </a:r>
            <a:endParaRPr lang="en-US"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1029760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966865" y="955005"/>
            <a:ext cx="6096000" cy="1077218"/>
          </a:xfrm>
          <a:prstGeom prst="rect">
            <a:avLst/>
          </a:prstGeom>
        </p:spPr>
        <p:txBody>
          <a:bodyPr>
            <a:spAutoFit/>
          </a:bodyPr>
          <a:lstStyle/>
          <a:p>
            <a:r>
              <a:rPr lang="en-IN" sz="3200" b="1" dirty="0" smtClean="0">
                <a:latin typeface="Times New Roman" panose="02020603050405020304" pitchFamily="18" charset="0"/>
                <a:cs typeface="Times New Roman" panose="02020603050405020304" pitchFamily="18" charset="0"/>
              </a:rPr>
              <a:t>INTRODUCTION</a:t>
            </a:r>
            <a:r>
              <a:rPr lang="en-IN" sz="3200" dirty="0" smtClean="0">
                <a:latin typeface="Times New Roman" panose="02020603050405020304" pitchFamily="18" charset="0"/>
                <a:cs typeface="Times New Roman" panose="02020603050405020304" pitchFamily="18" charset="0"/>
              </a:rPr>
              <a:t/>
            </a:r>
            <a:br>
              <a:rPr lang="en-IN" sz="3200" dirty="0" smtClean="0">
                <a:latin typeface="Times New Roman" panose="02020603050405020304" pitchFamily="18" charset="0"/>
                <a:cs typeface="Times New Roman" panose="02020603050405020304" pitchFamily="18" charset="0"/>
              </a:rPr>
            </a:br>
            <a:endParaRPr lang="en-IN" sz="3200" dirty="0"/>
          </a:p>
        </p:txBody>
      </p:sp>
      <p:sp>
        <p:nvSpPr>
          <p:cNvPr id="4" name="Rectangle 1"/>
          <p:cNvSpPr>
            <a:spLocks noChangeArrowheads="1"/>
          </p:cNvSpPr>
          <p:nvPr/>
        </p:nvSpPr>
        <p:spPr bwMode="auto">
          <a:xfrm>
            <a:off x="1262131" y="1478225"/>
            <a:ext cx="9897507" cy="46628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Digital platform connecting farmers directly with consumers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Eliminates middlemen from agricultural supply chain</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Built using HTML, CSS, JavaScript, Java, MySQL</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Aims to revolutionize traditional farming commerce</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Promotes fresh, local produce at fair prices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Supports sustainable agricultural practices</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6489539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137548" y="649008"/>
            <a:ext cx="6096000" cy="1077218"/>
          </a:xfrm>
          <a:prstGeom prst="rect">
            <a:avLst/>
          </a:prstGeom>
        </p:spPr>
        <p:txBody>
          <a:bodyPr>
            <a:spAutoFit/>
          </a:bodyPr>
          <a:lstStyle/>
          <a:p>
            <a:r>
              <a:rPr lang="en-IN" sz="3200" b="1" dirty="0" smtClean="0">
                <a:latin typeface="Times New Roman" panose="02020603050405020304" pitchFamily="18" charset="0"/>
                <a:cs typeface="Times New Roman" panose="02020603050405020304" pitchFamily="18" charset="0"/>
              </a:rPr>
              <a:t>OBJECTIVES</a:t>
            </a:r>
            <a:r>
              <a:rPr lang="en-IN" sz="3200" dirty="0" smtClean="0">
                <a:latin typeface="Times New Roman" panose="02020603050405020304" pitchFamily="18" charset="0"/>
                <a:cs typeface="Times New Roman" panose="02020603050405020304" pitchFamily="18" charset="0"/>
              </a:rPr>
              <a:t/>
            </a:r>
            <a:br>
              <a:rPr lang="en-IN" sz="3200" dirty="0" smtClean="0">
                <a:latin typeface="Times New Roman" panose="02020603050405020304" pitchFamily="18" charset="0"/>
                <a:cs typeface="Times New Roman" panose="02020603050405020304" pitchFamily="18" charset="0"/>
              </a:rPr>
            </a:br>
            <a:endParaRPr lang="en-IN" sz="3200" dirty="0"/>
          </a:p>
        </p:txBody>
      </p:sp>
      <p:sp>
        <p:nvSpPr>
          <p:cNvPr id="5" name="Rectangle 2"/>
          <p:cNvSpPr>
            <a:spLocks noChangeArrowheads="1"/>
          </p:cNvSpPr>
          <p:nvPr/>
        </p:nvSpPr>
        <p:spPr bwMode="auto">
          <a:xfrm>
            <a:off x="700010" y="1452977"/>
            <a:ext cx="9533538" cy="46628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Connect farmers directly with consumers</a:t>
            </a:r>
          </a:p>
          <a:p>
            <a:pPr marL="285750" indent="-285750">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Eliminate middlemen from supply chain</a:t>
            </a:r>
          </a:p>
          <a:p>
            <a:pPr marL="285750" indent="-285750">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Increase farmer income and profits</a:t>
            </a:r>
          </a:p>
          <a:p>
            <a:pPr marL="285750" indent="-285750">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Provide fresh produce to consumers</a:t>
            </a:r>
          </a:p>
          <a:p>
            <a:pPr marL="285750" indent="-285750">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Create user-friendly web platform</a:t>
            </a:r>
          </a:p>
          <a:p>
            <a:pPr>
              <a:lnSpc>
                <a:spcPct val="150000"/>
              </a:lnSpc>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Ensure secure user authentication</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7773273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612453" y="600571"/>
            <a:ext cx="4976619" cy="584775"/>
          </a:xfrm>
          <a:prstGeom prst="rect">
            <a:avLst/>
          </a:prstGeom>
        </p:spPr>
        <p:txBody>
          <a:bodyPr wrap="none">
            <a:spAutoFit/>
          </a:bodyPr>
          <a:lstStyle/>
          <a:p>
            <a:r>
              <a:rPr lang="en-IN" sz="3200" b="1" dirty="0" smtClean="0">
                <a:latin typeface="Times New Roman" panose="02020603050405020304" pitchFamily="18" charset="0"/>
                <a:cs typeface="Times New Roman" panose="02020603050405020304" pitchFamily="18" charset="0"/>
              </a:rPr>
              <a:t>PROBLEM STATEMENT </a:t>
            </a:r>
            <a:endParaRPr lang="en-IN" sz="3200" dirty="0"/>
          </a:p>
        </p:txBody>
      </p:sp>
      <p:sp>
        <p:nvSpPr>
          <p:cNvPr id="4" name="Rectangle 1"/>
          <p:cNvSpPr>
            <a:spLocks noChangeArrowheads="1"/>
          </p:cNvSpPr>
          <p:nvPr/>
        </p:nvSpPr>
        <p:spPr bwMode="auto">
          <a:xfrm>
            <a:off x="1178043" y="1185346"/>
            <a:ext cx="9845438" cy="54440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Middlemen take 50-70% profit margins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Farmers receive only 20-30% of retail price</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Consumers pay 2-3 times </a:t>
            </a:r>
            <a:r>
              <a:rPr lang="en-GB" dirty="0" err="1">
                <a:latin typeface="Times New Roman" panose="02020603050405020304" pitchFamily="18" charset="0"/>
                <a:cs typeface="Times New Roman" panose="02020603050405020304" pitchFamily="18" charset="0"/>
              </a:rPr>
              <a:t>farmgate</a:t>
            </a:r>
            <a:r>
              <a:rPr lang="en-GB" dirty="0">
                <a:latin typeface="Times New Roman" panose="02020603050405020304" pitchFamily="18" charset="0"/>
                <a:cs typeface="Times New Roman" panose="02020603050405020304" pitchFamily="18" charset="0"/>
              </a:rPr>
              <a:t> prices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30-40% post-harvest food wastage</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Limited market access for small farmers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Lack of transparency in supply chain</a:t>
            </a:r>
          </a:p>
          <a:p>
            <a:pPr algn="just">
              <a:lnSpc>
                <a:spcPct val="150000"/>
              </a:lnSpc>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No direct farmer-consumer communication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0074510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939882" y="539771"/>
            <a:ext cx="4321761" cy="584775"/>
          </a:xfrm>
          <a:prstGeom prst="rect">
            <a:avLst/>
          </a:prstGeom>
        </p:spPr>
        <p:txBody>
          <a:bodyPr wrap="none">
            <a:spAutoFit/>
          </a:bodyPr>
          <a:lstStyle/>
          <a:p>
            <a:r>
              <a:rPr lang="en-IN" sz="3200" b="1" dirty="0" smtClean="0">
                <a:latin typeface="Times New Roman" panose="02020603050405020304" pitchFamily="18" charset="0"/>
                <a:cs typeface="Times New Roman" panose="02020603050405020304" pitchFamily="18" charset="0"/>
              </a:rPr>
              <a:t>SCOPE OF PROJECT </a:t>
            </a:r>
            <a:endParaRPr lang="en-IN" sz="3200" dirty="0"/>
          </a:p>
        </p:txBody>
      </p:sp>
      <p:sp>
        <p:nvSpPr>
          <p:cNvPr id="4" name="Rectangle 1"/>
          <p:cNvSpPr>
            <a:spLocks noChangeArrowheads="1"/>
          </p:cNvSpPr>
          <p:nvPr/>
        </p:nvSpPr>
        <p:spPr bwMode="auto">
          <a:xfrm>
            <a:off x="1046513" y="1480522"/>
            <a:ext cx="10314713" cy="4618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nSpc>
                <a:spcPct val="150000"/>
              </a:lnSpc>
              <a:buFont typeface="Wingdings" panose="05000000000000000000" pitchFamily="2" charset="2"/>
              <a:buChar char="Ø"/>
            </a:pPr>
            <a:r>
              <a:rPr lang="en-IN" dirty="0"/>
              <a:t>Web-based platform (no mobile app initially)</a:t>
            </a:r>
          </a:p>
          <a:p>
            <a:pPr marL="285750" indent="-285750">
              <a:lnSpc>
                <a:spcPct val="150000"/>
              </a:lnSpc>
              <a:buFont typeface="Wingdings" panose="05000000000000000000" pitchFamily="2" charset="2"/>
              <a:buChar char="Ø"/>
            </a:pPr>
            <a:endParaRPr lang="en-IN" dirty="0"/>
          </a:p>
          <a:p>
            <a:pPr marL="285750" indent="-285750">
              <a:lnSpc>
                <a:spcPct val="150000"/>
              </a:lnSpc>
              <a:buFont typeface="Wingdings" panose="05000000000000000000" pitchFamily="2" charset="2"/>
              <a:buChar char="Ø"/>
            </a:pPr>
            <a:r>
              <a:rPr lang="en-IN" dirty="0"/>
              <a:t>Two primary user roles: Farmer &amp; Consumer</a:t>
            </a:r>
          </a:p>
          <a:p>
            <a:pPr marL="285750" indent="-285750">
              <a:lnSpc>
                <a:spcPct val="150000"/>
              </a:lnSpc>
              <a:buFont typeface="Wingdings" panose="05000000000000000000" pitchFamily="2" charset="2"/>
              <a:buChar char="Ø"/>
            </a:pPr>
            <a:endParaRPr lang="en-IN" dirty="0"/>
          </a:p>
          <a:p>
            <a:pPr marL="285750" indent="-285750">
              <a:lnSpc>
                <a:spcPct val="150000"/>
              </a:lnSpc>
              <a:buFont typeface="Wingdings" panose="05000000000000000000" pitchFamily="2" charset="2"/>
              <a:buChar char="Ø"/>
            </a:pPr>
            <a:r>
              <a:rPr lang="en-IN" dirty="0"/>
              <a:t>Local database implementation (MySQL)</a:t>
            </a:r>
          </a:p>
          <a:p>
            <a:pPr marL="285750" indent="-285750">
              <a:lnSpc>
                <a:spcPct val="150000"/>
              </a:lnSpc>
              <a:buFont typeface="Wingdings" panose="05000000000000000000" pitchFamily="2" charset="2"/>
              <a:buChar char="Ø"/>
            </a:pPr>
            <a:endParaRPr lang="en-IN" dirty="0"/>
          </a:p>
          <a:p>
            <a:pPr marL="285750" indent="-285750">
              <a:lnSpc>
                <a:spcPct val="150000"/>
              </a:lnSpc>
              <a:buFont typeface="Wingdings" panose="05000000000000000000" pitchFamily="2" charset="2"/>
              <a:buChar char="Ø"/>
            </a:pPr>
            <a:r>
              <a:rPr lang="en-IN" dirty="0"/>
              <a:t>Basic e-commerce functionality</a:t>
            </a:r>
          </a:p>
          <a:p>
            <a:pPr>
              <a:lnSpc>
                <a:spcPct val="150000"/>
              </a:lnSpc>
            </a:pPr>
            <a:endParaRPr lang="en-IN" dirty="0"/>
          </a:p>
          <a:p>
            <a:pPr marL="285750" indent="-285750">
              <a:lnSpc>
                <a:spcPct val="150000"/>
              </a:lnSpc>
              <a:buFont typeface="Wingdings" panose="05000000000000000000" pitchFamily="2" charset="2"/>
              <a:buChar char="Ø"/>
            </a:pPr>
            <a:r>
              <a:rPr lang="en-IN" dirty="0"/>
              <a:t>Review and rating system</a:t>
            </a:r>
          </a:p>
          <a:p>
            <a:pPr marL="285750" indent="-285750">
              <a:lnSpc>
                <a:spcPct val="150000"/>
              </a:lnSpc>
              <a:buFont typeface="Wingdings" panose="05000000000000000000" pitchFamily="2" charset="2"/>
              <a:buChar char="Ø"/>
            </a:pPr>
            <a:endParaRPr lang="en-IN" dirty="0"/>
          </a:p>
          <a:p>
            <a:pPr marL="285750" indent="-285750">
              <a:lnSpc>
                <a:spcPct val="150000"/>
              </a:lnSpc>
              <a:buFont typeface="Wingdings" panose="05000000000000000000" pitchFamily="2" charset="2"/>
              <a:buChar char="Ø"/>
            </a:pPr>
            <a:r>
              <a:rPr lang="en-IN" dirty="0"/>
              <a:t>Order tracking capabilities</a:t>
            </a:r>
            <a:endParaRPr lang="en-US"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994559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078309" y="439974"/>
            <a:ext cx="6096000" cy="1077218"/>
          </a:xfrm>
          <a:prstGeom prst="rect">
            <a:avLst/>
          </a:prstGeom>
        </p:spPr>
        <p:txBody>
          <a:bodyPr>
            <a:spAutoFit/>
          </a:bodyPr>
          <a:lstStyle/>
          <a:p>
            <a:r>
              <a:rPr lang="en-IN" sz="3200" b="1" dirty="0" smtClean="0">
                <a:latin typeface="Times New Roman" panose="02020603050405020304" pitchFamily="18" charset="0"/>
                <a:cs typeface="Times New Roman" panose="02020603050405020304" pitchFamily="18" charset="0"/>
              </a:rPr>
              <a:t>EXISTING SYSTEM</a:t>
            </a:r>
            <a:r>
              <a:rPr lang="en-IN" sz="3200" dirty="0" smtClean="0">
                <a:latin typeface="Times New Roman" panose="02020603050405020304" pitchFamily="18" charset="0"/>
                <a:cs typeface="Times New Roman" panose="02020603050405020304" pitchFamily="18" charset="0"/>
              </a:rPr>
              <a:t/>
            </a:r>
            <a:br>
              <a:rPr lang="en-IN" sz="3200" dirty="0" smtClean="0">
                <a:latin typeface="Times New Roman" panose="02020603050405020304" pitchFamily="18" charset="0"/>
                <a:cs typeface="Times New Roman" panose="02020603050405020304" pitchFamily="18" charset="0"/>
              </a:rPr>
            </a:br>
            <a:endParaRPr lang="en-IN" sz="3200" dirty="0"/>
          </a:p>
        </p:txBody>
      </p:sp>
      <p:sp>
        <p:nvSpPr>
          <p:cNvPr id="4" name="Rectangle 1"/>
          <p:cNvSpPr>
            <a:spLocks noChangeArrowheads="1"/>
          </p:cNvSpPr>
          <p:nvPr/>
        </p:nvSpPr>
        <p:spPr bwMode="auto">
          <a:xfrm>
            <a:off x="980742" y="978583"/>
            <a:ext cx="9947433" cy="54440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Multi-layered traditional supply chain</a:t>
            </a: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Farmer → Agent → Wholesaler → Retailer → Consumer</a:t>
            </a: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Manual transactions and record-keeping</a:t>
            </a: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Local markets and </a:t>
            </a:r>
            <a:r>
              <a:rPr lang="en-US" dirty="0" err="1">
                <a:latin typeface="Times New Roman" panose="02020603050405020304" pitchFamily="18" charset="0"/>
                <a:cs typeface="Times New Roman" panose="02020603050405020304" pitchFamily="18" charset="0"/>
              </a:rPr>
              <a:t>mandi</a:t>
            </a:r>
            <a:r>
              <a:rPr lang="en-US" dirty="0">
                <a:latin typeface="Times New Roman" panose="02020603050405020304" pitchFamily="18" charset="0"/>
                <a:cs typeface="Times New Roman" panose="02020603050405020304" pitchFamily="18" charset="0"/>
              </a:rPr>
              <a:t>-based systems</a:t>
            </a: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Supermarket-dominated retail</a:t>
            </a: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digital traceability</a:t>
            </a: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Limited price transparency</a:t>
            </a: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0032544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333292" y="578407"/>
            <a:ext cx="3534942" cy="584775"/>
          </a:xfrm>
          <a:prstGeom prst="rect">
            <a:avLst/>
          </a:prstGeom>
        </p:spPr>
        <p:txBody>
          <a:bodyPr wrap="none">
            <a:spAutoFit/>
          </a:bodyPr>
          <a:lstStyle/>
          <a:p>
            <a:r>
              <a:rPr lang="en-US" sz="3200" b="1" dirty="0" smtClean="0">
                <a:latin typeface="Times New Roman" panose="02020603050405020304" pitchFamily="18" charset="0"/>
                <a:cs typeface="Times New Roman" panose="02020603050405020304" pitchFamily="18" charset="0"/>
              </a:rPr>
              <a:t>DISADVANTAGE </a:t>
            </a:r>
            <a:endParaRPr lang="en-IN" sz="3200" dirty="0"/>
          </a:p>
        </p:txBody>
      </p:sp>
      <p:sp>
        <p:nvSpPr>
          <p:cNvPr id="5" name="Rectangle 4"/>
          <p:cNvSpPr/>
          <p:nvPr/>
        </p:nvSpPr>
        <p:spPr>
          <a:xfrm>
            <a:off x="1077169" y="1498701"/>
            <a:ext cx="10315411" cy="4613058"/>
          </a:xfrm>
          <a:prstGeom prst="rect">
            <a:avLst/>
          </a:prstGeom>
        </p:spPr>
        <p:txBody>
          <a:bodyPr wrap="square">
            <a:spAutoFit/>
          </a:bodyPr>
          <a:lstStyle/>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Platform currently web-only (no mobile app)</a:t>
            </a:r>
          </a:p>
          <a:p>
            <a:pPr marL="285750" indent="-285750">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No integrated payment gateway</a:t>
            </a:r>
          </a:p>
          <a:p>
            <a:pPr marL="285750" indent="-285750">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Limited to local database deployment</a:t>
            </a:r>
          </a:p>
          <a:p>
            <a:pPr marL="285750" indent="-285750">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Basic analytics capabilities</a:t>
            </a:r>
          </a:p>
          <a:p>
            <a:pPr marL="285750" indent="-285750">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No </a:t>
            </a:r>
            <a:r>
              <a:rPr lang="en-GB" dirty="0" err="1">
                <a:latin typeface="Times New Roman" panose="02020603050405020304" pitchFamily="18" charset="0"/>
                <a:cs typeface="Times New Roman" panose="02020603050405020304" pitchFamily="18" charset="0"/>
              </a:rPr>
              <a:t>blockchain</a:t>
            </a:r>
            <a:r>
              <a:rPr lang="en-GB" dirty="0">
                <a:latin typeface="Times New Roman" panose="02020603050405020304" pitchFamily="18" charset="0"/>
                <a:cs typeface="Times New Roman" panose="02020603050405020304" pitchFamily="18" charset="0"/>
              </a:rPr>
              <a:t> traceability</a:t>
            </a:r>
          </a:p>
          <a:p>
            <a:pPr marL="285750" indent="-285750">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Single-language interface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0534389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245735" y="620213"/>
            <a:ext cx="6096000" cy="1077218"/>
          </a:xfrm>
          <a:prstGeom prst="rect">
            <a:avLst/>
          </a:prstGeom>
        </p:spPr>
        <p:txBody>
          <a:bodyPr>
            <a:spAutoFit/>
          </a:bodyPr>
          <a:lstStyle/>
          <a:p>
            <a:r>
              <a:rPr lang="en-IN" sz="3200" b="1" dirty="0" smtClean="0">
                <a:latin typeface="Times New Roman" panose="02020603050405020304" pitchFamily="18" charset="0"/>
                <a:cs typeface="Times New Roman" panose="02020603050405020304" pitchFamily="18" charset="0"/>
              </a:rPr>
              <a:t>PROPOSED SYSTEM</a:t>
            </a:r>
            <a:r>
              <a:rPr lang="en-IN" sz="3200" dirty="0" smtClean="0">
                <a:latin typeface="Times New Roman" panose="02020603050405020304" pitchFamily="18" charset="0"/>
                <a:cs typeface="Times New Roman" panose="02020603050405020304" pitchFamily="18" charset="0"/>
              </a:rPr>
              <a:t/>
            </a:r>
            <a:br>
              <a:rPr lang="en-IN" sz="3200" dirty="0" smtClean="0">
                <a:latin typeface="Times New Roman" panose="02020603050405020304" pitchFamily="18" charset="0"/>
                <a:cs typeface="Times New Roman" panose="02020603050405020304" pitchFamily="18" charset="0"/>
              </a:rPr>
            </a:br>
            <a:endParaRPr lang="en-IN" sz="3200" dirty="0"/>
          </a:p>
        </p:txBody>
      </p:sp>
      <p:sp>
        <p:nvSpPr>
          <p:cNvPr id="4" name="Rectangle 1"/>
          <p:cNvSpPr>
            <a:spLocks noChangeArrowheads="1"/>
          </p:cNvSpPr>
          <p:nvPr/>
        </p:nvSpPr>
        <p:spPr bwMode="auto">
          <a:xfrm>
            <a:off x="1031806" y="1158822"/>
            <a:ext cx="10137913" cy="46130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Direct Digital Marketplace: Farmer ↔ Consumer</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Real-time Inventory Management: Automatic stock updates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Transparent Pricing: No hidden charges or commissions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Direct Communication: Built-in messaging system</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User Profiles: Detailed farmer and consumer profiles</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Order Tracking: Real-time order status updates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1231333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365813" y="499651"/>
            <a:ext cx="2850460" cy="584775"/>
          </a:xfrm>
          <a:prstGeom prst="rect">
            <a:avLst/>
          </a:prstGeom>
        </p:spPr>
        <p:txBody>
          <a:bodyPr wrap="none">
            <a:spAutoFit/>
          </a:bodyPr>
          <a:lstStyle/>
          <a:p>
            <a:r>
              <a:rPr lang="en-US" sz="3200" b="1" dirty="0" smtClean="0">
                <a:latin typeface="Times New Roman" panose="02020603050405020304" pitchFamily="18" charset="0"/>
                <a:cs typeface="Times New Roman" panose="02020603050405020304" pitchFamily="18" charset="0"/>
              </a:rPr>
              <a:t>ADVANTAGE </a:t>
            </a:r>
            <a:endParaRPr lang="en-IN" sz="3200" dirty="0"/>
          </a:p>
        </p:txBody>
      </p:sp>
      <p:sp>
        <p:nvSpPr>
          <p:cNvPr id="4" name="Rectangle 3"/>
          <p:cNvSpPr/>
          <p:nvPr/>
        </p:nvSpPr>
        <p:spPr>
          <a:xfrm>
            <a:off x="1017815" y="1317756"/>
            <a:ext cx="10702343" cy="4662815"/>
          </a:xfrm>
          <a:prstGeom prst="rect">
            <a:avLst/>
          </a:prstGeom>
        </p:spPr>
        <p:txBody>
          <a:bodyPr wrap="square">
            <a:spAutoFit/>
          </a:bodyPr>
          <a:lstStyle/>
          <a:p>
            <a:pPr algn="just">
              <a:lnSpc>
                <a:spcPct val="150000"/>
              </a:lnSpc>
            </a:pPr>
            <a:r>
              <a:rPr lang="en-GB" b="1" dirty="0">
                <a:latin typeface="Times New Roman" panose="02020603050405020304" pitchFamily="18" charset="0"/>
                <a:cs typeface="Times New Roman" panose="02020603050405020304" pitchFamily="18" charset="0"/>
              </a:rPr>
              <a:t>For Farmers</a:t>
            </a:r>
            <a:r>
              <a:rPr lang="en-GB" dirty="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50-80% higher profit margins</a:t>
            </a: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Direct market access</a:t>
            </a: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Real-time demand </a:t>
            </a:r>
            <a:r>
              <a:rPr lang="en-GB" dirty="0" smtClean="0">
                <a:latin typeface="Times New Roman" panose="02020603050405020304" pitchFamily="18" charset="0"/>
                <a:cs typeface="Times New Roman" panose="02020603050405020304" pitchFamily="18" charset="0"/>
              </a:rPr>
              <a:t>insights</a:t>
            </a:r>
          </a:p>
          <a:p>
            <a:pPr algn="just">
              <a:lnSpc>
                <a:spcPct val="150000"/>
              </a:lnSpc>
            </a:pPr>
            <a:endParaRPr lang="en-GB" dirty="0">
              <a:latin typeface="Times New Roman" panose="02020603050405020304" pitchFamily="18" charset="0"/>
              <a:cs typeface="Times New Roman" panose="02020603050405020304" pitchFamily="18" charset="0"/>
            </a:endParaRPr>
          </a:p>
          <a:p>
            <a:pPr>
              <a:lnSpc>
                <a:spcPct val="150000"/>
              </a:lnSpc>
            </a:pPr>
            <a:r>
              <a:rPr lang="en-GB" b="1" dirty="0">
                <a:latin typeface="Times New Roman" panose="02020603050405020304" pitchFamily="18" charset="0"/>
                <a:cs typeface="Times New Roman" panose="02020603050405020304" pitchFamily="18" charset="0"/>
              </a:rPr>
              <a:t>For Consumers</a:t>
            </a:r>
            <a:r>
              <a:rPr lang="en-GB" dirty="0">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20-40% cost savings</a:t>
            </a: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Fresher produce</a:t>
            </a: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Transparent sourcing</a:t>
            </a:r>
          </a:p>
          <a:p>
            <a:pPr marL="285750" indent="-285750">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Direct farmer communication</a:t>
            </a:r>
          </a:p>
          <a:p>
            <a:pPr algn="just">
              <a:lnSpc>
                <a:spcPct val="150000"/>
              </a:lnSpc>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5058166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271463" y="242888"/>
            <a:ext cx="11658600" cy="65056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a:latin typeface="Times New Roman" panose="02020603050405020304" pitchFamily="18" charset="0"/>
              <a:cs typeface="Times New Roman" panose="02020603050405020304" pitchFamily="18" charset="0"/>
            </a:endParaRPr>
          </a:p>
        </p:txBody>
      </p:sp>
      <p:sp>
        <p:nvSpPr>
          <p:cNvPr id="32" name="Rectangle 31"/>
          <p:cNvSpPr/>
          <p:nvPr/>
        </p:nvSpPr>
        <p:spPr>
          <a:xfrm>
            <a:off x="4956860" y="437103"/>
            <a:ext cx="2287806" cy="369332"/>
          </a:xfrm>
          <a:prstGeom prst="rect">
            <a:avLst/>
          </a:prstGeom>
        </p:spPr>
        <p:txBody>
          <a:bodyPr wrap="none">
            <a:spAutoFit/>
          </a:bodyPr>
          <a:lstStyle/>
          <a:p>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BLOCK DIAGRAM </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6146" name="Picture 2" descr="PlantUML diagra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006221" y="1709771"/>
            <a:ext cx="7950532" cy="381747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176554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5056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sz="1600" b="1" dirty="0">
              <a:latin typeface="Times New Roman" panose="02020603050405020304" pitchFamily="18" charset="0"/>
              <a:cs typeface="Times New Roman" panose="02020603050405020304" pitchFamily="18" charset="0"/>
            </a:endParaRPr>
          </a:p>
        </p:txBody>
      </p:sp>
      <p:sp>
        <p:nvSpPr>
          <p:cNvPr id="74" name="Rectangle 73"/>
          <p:cNvSpPr/>
          <p:nvPr/>
        </p:nvSpPr>
        <p:spPr>
          <a:xfrm>
            <a:off x="639123" y="648513"/>
            <a:ext cx="3431497" cy="369332"/>
          </a:xfrm>
          <a:prstGeom prst="rect">
            <a:avLst/>
          </a:prstGeom>
        </p:spPr>
        <p:txBody>
          <a:bodyPr wrap="square">
            <a:spAutoFit/>
          </a:bodyPr>
          <a:lstStyle/>
          <a:p>
            <a:r>
              <a:rPr lang="en-GB" b="1" spc="3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Chart - Farmer</a:t>
            </a:r>
            <a:endParaRPr lang="en-IN" b="1" spc="3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Oval 1"/>
          <p:cNvSpPr/>
          <p:nvPr/>
        </p:nvSpPr>
        <p:spPr>
          <a:xfrm>
            <a:off x="5302187" y="1179630"/>
            <a:ext cx="1597152" cy="515058"/>
          </a:xfrm>
          <a:prstGeom prst="ellipse">
            <a:avLst/>
          </a:prstGeom>
          <a:solidFill>
            <a:schemeClr val="accent6">
              <a:lumMod val="20000"/>
              <a:lumOff val="80000"/>
            </a:schemeClr>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Start</a:t>
            </a:r>
            <a:endParaRPr lang="en-IN" dirty="0">
              <a:solidFill>
                <a:schemeClr val="tx1"/>
              </a:solidFill>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a:xfrm>
            <a:off x="6094667" y="1658112"/>
            <a:ext cx="0" cy="597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Rounded Rectangle 5"/>
          <p:cNvSpPr/>
          <p:nvPr/>
        </p:nvSpPr>
        <p:spPr>
          <a:xfrm>
            <a:off x="5033963" y="2255520"/>
            <a:ext cx="2133600" cy="719328"/>
          </a:xfrm>
          <a:prstGeom prst="roundRect">
            <a:avLst/>
          </a:prstGeom>
          <a:solidFill>
            <a:schemeClr val="accent6">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Authentication</a:t>
            </a:r>
            <a:endParaRPr lang="en-IN" dirty="0">
              <a:latin typeface="Times New Roman" panose="02020603050405020304" pitchFamily="18" charset="0"/>
              <a:cs typeface="Times New Roman" panose="02020603050405020304" pitchFamily="18" charset="0"/>
            </a:endParaRPr>
          </a:p>
        </p:txBody>
      </p:sp>
      <p:cxnSp>
        <p:nvCxnSpPr>
          <p:cNvPr id="39" name="Straight Arrow Connector 38"/>
          <p:cNvCxnSpPr/>
          <p:nvPr/>
        </p:nvCxnSpPr>
        <p:spPr>
          <a:xfrm>
            <a:off x="6094667" y="2923161"/>
            <a:ext cx="0" cy="597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Rounded Rectangle 39"/>
          <p:cNvSpPr/>
          <p:nvPr/>
        </p:nvSpPr>
        <p:spPr>
          <a:xfrm>
            <a:off x="5033963" y="3520569"/>
            <a:ext cx="2133600" cy="719328"/>
          </a:xfrm>
          <a:prstGeom prst="roundRect">
            <a:avLst/>
          </a:prstGeom>
          <a:solidFill>
            <a:schemeClr val="accent6">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Dashboard - Farmer</a:t>
            </a:r>
            <a:endParaRPr lang="en-IN" dirty="0">
              <a:latin typeface="Times New Roman" panose="02020603050405020304" pitchFamily="18" charset="0"/>
              <a:cs typeface="Times New Roman" panose="02020603050405020304" pitchFamily="18" charset="0"/>
            </a:endParaRPr>
          </a:p>
        </p:txBody>
      </p:sp>
      <p:cxnSp>
        <p:nvCxnSpPr>
          <p:cNvPr id="70" name="Curved Connector 69"/>
          <p:cNvCxnSpPr/>
          <p:nvPr/>
        </p:nvCxnSpPr>
        <p:spPr>
          <a:xfrm>
            <a:off x="7132321" y="3862766"/>
            <a:ext cx="2156651" cy="1210001"/>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6" name="Curved Connector 75"/>
          <p:cNvCxnSpPr/>
          <p:nvPr/>
        </p:nvCxnSpPr>
        <p:spPr>
          <a:xfrm rot="10800000" flipV="1">
            <a:off x="3308129" y="3880233"/>
            <a:ext cx="1725834" cy="1423470"/>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7" name="Curved Connector 76"/>
          <p:cNvCxnSpPr/>
          <p:nvPr/>
        </p:nvCxnSpPr>
        <p:spPr>
          <a:xfrm rot="5400000">
            <a:off x="4920118" y="4388105"/>
            <a:ext cx="1322757" cy="1026341"/>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3" name="Curved Connector 92"/>
          <p:cNvCxnSpPr/>
          <p:nvPr/>
        </p:nvCxnSpPr>
        <p:spPr>
          <a:xfrm rot="16200000" flipH="1">
            <a:off x="6160932" y="4385497"/>
            <a:ext cx="1276983" cy="1031556"/>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7" name="Rectangle 96"/>
          <p:cNvSpPr/>
          <p:nvPr/>
        </p:nvSpPr>
        <p:spPr>
          <a:xfrm>
            <a:off x="4171045" y="5562654"/>
            <a:ext cx="2083017" cy="621609"/>
          </a:xfrm>
          <a:prstGeom prst="rect">
            <a:avLst/>
          </a:prstGeom>
          <a:solidFill>
            <a:schemeClr val="accent6">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Add Product</a:t>
            </a:r>
            <a:endParaRPr lang="en-IN" dirty="0">
              <a:latin typeface="Times New Roman" panose="02020603050405020304" pitchFamily="18" charset="0"/>
              <a:cs typeface="Times New Roman" panose="02020603050405020304" pitchFamily="18" charset="0"/>
            </a:endParaRPr>
          </a:p>
        </p:txBody>
      </p:sp>
      <p:sp>
        <p:nvSpPr>
          <p:cNvPr id="98" name="Rectangle 97"/>
          <p:cNvSpPr/>
          <p:nvPr/>
        </p:nvSpPr>
        <p:spPr>
          <a:xfrm>
            <a:off x="6799423" y="5555061"/>
            <a:ext cx="2083017" cy="621609"/>
          </a:xfrm>
          <a:prstGeom prst="rect">
            <a:avLst/>
          </a:prstGeom>
          <a:solidFill>
            <a:schemeClr val="accent6">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latin typeface="Times New Roman" panose="02020603050405020304" pitchFamily="18" charset="0"/>
                <a:cs typeface="Times New Roman" panose="02020603050405020304" pitchFamily="18" charset="0"/>
              </a:rPr>
              <a:t>View Orders</a:t>
            </a:r>
            <a:endParaRPr lang="en-IN" dirty="0">
              <a:latin typeface="Times New Roman" panose="02020603050405020304" pitchFamily="18" charset="0"/>
              <a:cs typeface="Times New Roman" panose="02020603050405020304" pitchFamily="18" charset="0"/>
            </a:endParaRPr>
          </a:p>
        </p:txBody>
      </p:sp>
      <p:sp>
        <p:nvSpPr>
          <p:cNvPr id="99" name="Rectangle 98"/>
          <p:cNvSpPr/>
          <p:nvPr/>
        </p:nvSpPr>
        <p:spPr>
          <a:xfrm>
            <a:off x="9318007" y="4782640"/>
            <a:ext cx="2083017" cy="621609"/>
          </a:xfrm>
          <a:prstGeom prst="rect">
            <a:avLst/>
          </a:prstGeom>
          <a:solidFill>
            <a:schemeClr val="accent6">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latin typeface="Times New Roman" panose="02020603050405020304" pitchFamily="18" charset="0"/>
                <a:cs typeface="Times New Roman" panose="02020603050405020304" pitchFamily="18" charset="0"/>
              </a:rPr>
              <a:t>View Product</a:t>
            </a:r>
            <a:endParaRPr lang="en-IN" dirty="0">
              <a:latin typeface="Times New Roman" panose="02020603050405020304" pitchFamily="18" charset="0"/>
              <a:cs typeface="Times New Roman" panose="02020603050405020304" pitchFamily="18" charset="0"/>
            </a:endParaRPr>
          </a:p>
        </p:txBody>
      </p:sp>
      <p:sp>
        <p:nvSpPr>
          <p:cNvPr id="100" name="Rectangle 99"/>
          <p:cNvSpPr/>
          <p:nvPr/>
        </p:nvSpPr>
        <p:spPr>
          <a:xfrm>
            <a:off x="1225111" y="5119638"/>
            <a:ext cx="2083017" cy="621609"/>
          </a:xfrm>
          <a:prstGeom prst="rect">
            <a:avLst/>
          </a:prstGeom>
          <a:solidFill>
            <a:schemeClr val="accent6">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Create User, Edit, Delete, Update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9199155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5056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sz="1600" b="1" dirty="0">
              <a:latin typeface="Times New Roman" panose="02020603050405020304" pitchFamily="18" charset="0"/>
              <a:cs typeface="Times New Roman" panose="02020603050405020304" pitchFamily="18" charset="0"/>
            </a:endParaRPr>
          </a:p>
        </p:txBody>
      </p:sp>
      <p:sp>
        <p:nvSpPr>
          <p:cNvPr id="74" name="Rectangle 73"/>
          <p:cNvSpPr/>
          <p:nvPr/>
        </p:nvSpPr>
        <p:spPr>
          <a:xfrm>
            <a:off x="639123" y="648513"/>
            <a:ext cx="5455544" cy="369332"/>
          </a:xfrm>
          <a:prstGeom prst="rect">
            <a:avLst/>
          </a:prstGeom>
        </p:spPr>
        <p:txBody>
          <a:bodyPr wrap="square">
            <a:spAutoFit/>
          </a:bodyPr>
          <a:lstStyle/>
          <a:p>
            <a:r>
              <a:rPr lang="en-GB" b="1" spc="3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Flow Chart - </a:t>
            </a:r>
            <a:r>
              <a:rPr lang="en-GB" b="1" spc="3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Consumer</a:t>
            </a:r>
            <a:endParaRPr lang="en-IN" b="1" spc="3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Oval 1"/>
          <p:cNvSpPr/>
          <p:nvPr/>
        </p:nvSpPr>
        <p:spPr>
          <a:xfrm>
            <a:off x="5302187" y="1179630"/>
            <a:ext cx="1597152" cy="515058"/>
          </a:xfrm>
          <a:prstGeom prst="ellipse">
            <a:avLst/>
          </a:prstGeom>
          <a:solidFill>
            <a:schemeClr val="accent2">
              <a:lumMod val="20000"/>
              <a:lumOff val="80000"/>
            </a:schemeClr>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Start</a:t>
            </a:r>
            <a:endParaRPr lang="en-IN" dirty="0">
              <a:solidFill>
                <a:schemeClr val="tx1"/>
              </a:solidFill>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a:xfrm>
            <a:off x="6094667" y="1658112"/>
            <a:ext cx="0" cy="597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Rounded Rectangle 5"/>
          <p:cNvSpPr/>
          <p:nvPr/>
        </p:nvSpPr>
        <p:spPr>
          <a:xfrm>
            <a:off x="5033963" y="2255520"/>
            <a:ext cx="2133600" cy="719328"/>
          </a:xfrm>
          <a:prstGeom prst="roundRect">
            <a:avLst/>
          </a:prstGeom>
          <a:solidFill>
            <a:schemeClr val="accent2">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Authentication</a:t>
            </a:r>
            <a:endParaRPr lang="en-IN" dirty="0">
              <a:latin typeface="Times New Roman" panose="02020603050405020304" pitchFamily="18" charset="0"/>
              <a:cs typeface="Times New Roman" panose="02020603050405020304" pitchFamily="18" charset="0"/>
            </a:endParaRPr>
          </a:p>
        </p:txBody>
      </p:sp>
      <p:cxnSp>
        <p:nvCxnSpPr>
          <p:cNvPr id="39" name="Straight Arrow Connector 38"/>
          <p:cNvCxnSpPr/>
          <p:nvPr/>
        </p:nvCxnSpPr>
        <p:spPr>
          <a:xfrm>
            <a:off x="6094667" y="2923161"/>
            <a:ext cx="0" cy="597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Rounded Rectangle 39"/>
          <p:cNvSpPr/>
          <p:nvPr/>
        </p:nvSpPr>
        <p:spPr>
          <a:xfrm>
            <a:off x="5033963" y="3520569"/>
            <a:ext cx="2133600" cy="719328"/>
          </a:xfrm>
          <a:prstGeom prst="roundRect">
            <a:avLst/>
          </a:prstGeom>
          <a:solidFill>
            <a:schemeClr val="accent2">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Dashboard – Consumer</a:t>
            </a:r>
            <a:endParaRPr lang="en-IN" dirty="0">
              <a:latin typeface="Times New Roman" panose="02020603050405020304" pitchFamily="18" charset="0"/>
              <a:cs typeface="Times New Roman" panose="02020603050405020304" pitchFamily="18" charset="0"/>
            </a:endParaRPr>
          </a:p>
        </p:txBody>
      </p:sp>
      <p:cxnSp>
        <p:nvCxnSpPr>
          <p:cNvPr id="70" name="Curved Connector 69"/>
          <p:cNvCxnSpPr/>
          <p:nvPr/>
        </p:nvCxnSpPr>
        <p:spPr>
          <a:xfrm>
            <a:off x="7132321" y="3862766"/>
            <a:ext cx="2156651" cy="1210001"/>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6" name="Curved Connector 75"/>
          <p:cNvCxnSpPr/>
          <p:nvPr/>
        </p:nvCxnSpPr>
        <p:spPr>
          <a:xfrm rot="10800000" flipV="1">
            <a:off x="3308129" y="3880233"/>
            <a:ext cx="1725834" cy="1423470"/>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7" name="Curved Connector 76"/>
          <p:cNvCxnSpPr/>
          <p:nvPr/>
        </p:nvCxnSpPr>
        <p:spPr>
          <a:xfrm rot="5400000">
            <a:off x="4920118" y="4388105"/>
            <a:ext cx="1322757" cy="1026341"/>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3" name="Curved Connector 92"/>
          <p:cNvCxnSpPr/>
          <p:nvPr/>
        </p:nvCxnSpPr>
        <p:spPr>
          <a:xfrm rot="16200000" flipH="1">
            <a:off x="6160932" y="4385497"/>
            <a:ext cx="1276983" cy="1031556"/>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7" name="Rectangle 96"/>
          <p:cNvSpPr/>
          <p:nvPr/>
        </p:nvSpPr>
        <p:spPr>
          <a:xfrm>
            <a:off x="4171045" y="5562654"/>
            <a:ext cx="2083017" cy="621609"/>
          </a:xfrm>
          <a:prstGeom prst="rect">
            <a:avLst/>
          </a:prstGeom>
          <a:solidFill>
            <a:schemeClr val="accent2">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latin typeface="Times New Roman" panose="02020603050405020304" pitchFamily="18" charset="0"/>
                <a:cs typeface="Times New Roman" panose="02020603050405020304" pitchFamily="18" charset="0"/>
              </a:rPr>
              <a:t>Favourite</a:t>
            </a:r>
            <a:endParaRPr lang="en-IN" dirty="0">
              <a:latin typeface="Times New Roman" panose="02020603050405020304" pitchFamily="18" charset="0"/>
              <a:cs typeface="Times New Roman" panose="02020603050405020304" pitchFamily="18" charset="0"/>
            </a:endParaRPr>
          </a:p>
        </p:txBody>
      </p:sp>
      <p:sp>
        <p:nvSpPr>
          <p:cNvPr id="98" name="Rectangle 97"/>
          <p:cNvSpPr/>
          <p:nvPr/>
        </p:nvSpPr>
        <p:spPr>
          <a:xfrm>
            <a:off x="6799423" y="5555061"/>
            <a:ext cx="2083017" cy="621609"/>
          </a:xfrm>
          <a:prstGeom prst="rect">
            <a:avLst/>
          </a:prstGeom>
          <a:solidFill>
            <a:schemeClr val="accent2">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latin typeface="Times New Roman" panose="02020603050405020304" pitchFamily="18" charset="0"/>
                <a:cs typeface="Times New Roman" panose="02020603050405020304" pitchFamily="18" charset="0"/>
              </a:rPr>
              <a:t>View Orders</a:t>
            </a:r>
            <a:endParaRPr lang="en-IN" dirty="0">
              <a:latin typeface="Times New Roman" panose="02020603050405020304" pitchFamily="18" charset="0"/>
              <a:cs typeface="Times New Roman" panose="02020603050405020304" pitchFamily="18" charset="0"/>
            </a:endParaRPr>
          </a:p>
        </p:txBody>
      </p:sp>
      <p:sp>
        <p:nvSpPr>
          <p:cNvPr id="99" name="Rectangle 98"/>
          <p:cNvSpPr/>
          <p:nvPr/>
        </p:nvSpPr>
        <p:spPr>
          <a:xfrm>
            <a:off x="9318007" y="4782640"/>
            <a:ext cx="2083017" cy="621609"/>
          </a:xfrm>
          <a:prstGeom prst="rect">
            <a:avLst/>
          </a:prstGeom>
          <a:solidFill>
            <a:schemeClr val="accent2">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latin typeface="Times New Roman" panose="02020603050405020304" pitchFamily="18" charset="0"/>
                <a:cs typeface="Times New Roman" panose="02020603050405020304" pitchFamily="18" charset="0"/>
              </a:rPr>
              <a:t>Feedback</a:t>
            </a:r>
            <a:endParaRPr lang="en-IN" dirty="0">
              <a:latin typeface="Times New Roman" panose="02020603050405020304" pitchFamily="18" charset="0"/>
              <a:cs typeface="Times New Roman" panose="02020603050405020304" pitchFamily="18" charset="0"/>
            </a:endParaRPr>
          </a:p>
        </p:txBody>
      </p:sp>
      <p:sp>
        <p:nvSpPr>
          <p:cNvPr id="100" name="Rectangle 99"/>
          <p:cNvSpPr/>
          <p:nvPr/>
        </p:nvSpPr>
        <p:spPr>
          <a:xfrm>
            <a:off x="792481" y="5119638"/>
            <a:ext cx="2515648" cy="621609"/>
          </a:xfrm>
          <a:prstGeom prst="rect">
            <a:avLst/>
          </a:prstGeom>
          <a:solidFill>
            <a:schemeClr val="accent2">
              <a:lumMod val="20000"/>
              <a:lumOff val="8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latin typeface="Times New Roman" panose="02020603050405020304" pitchFamily="18" charset="0"/>
                <a:cs typeface="Times New Roman" panose="02020603050405020304" pitchFamily="18" charset="0"/>
              </a:rPr>
              <a:t>Marketplace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7522678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5056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sz="1600" b="1" dirty="0">
              <a:latin typeface="Times New Roman" panose="02020603050405020304" pitchFamily="18" charset="0"/>
              <a:cs typeface="Times New Roman" panose="02020603050405020304" pitchFamily="18" charset="0"/>
            </a:endParaRPr>
          </a:p>
        </p:txBody>
      </p:sp>
      <p:sp>
        <p:nvSpPr>
          <p:cNvPr id="74" name="Rectangle 73"/>
          <p:cNvSpPr/>
          <p:nvPr/>
        </p:nvSpPr>
        <p:spPr>
          <a:xfrm>
            <a:off x="639123" y="648513"/>
            <a:ext cx="5455544" cy="369332"/>
          </a:xfrm>
          <a:prstGeom prst="rect">
            <a:avLst/>
          </a:prstGeom>
        </p:spPr>
        <p:txBody>
          <a:bodyPr wrap="square">
            <a:spAutoFit/>
          </a:bodyPr>
          <a:lstStyle/>
          <a:p>
            <a:r>
              <a:rPr lang="en-IN" b="1" spc="3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DFD LEVEL 1</a:t>
            </a:r>
            <a:endParaRPr lang="en-IN" b="1" spc="3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Oval 1"/>
          <p:cNvSpPr/>
          <p:nvPr/>
        </p:nvSpPr>
        <p:spPr>
          <a:xfrm>
            <a:off x="5302187" y="1179630"/>
            <a:ext cx="1597152" cy="515058"/>
          </a:xfrm>
          <a:prstGeom prst="ellipse">
            <a:avLst/>
          </a:prstGeom>
          <a:solidFill>
            <a:schemeClr val="bg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Start</a:t>
            </a:r>
            <a:endParaRPr lang="en-IN" dirty="0">
              <a:solidFill>
                <a:schemeClr val="tx1"/>
              </a:solidFill>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a:xfrm>
            <a:off x="6094667" y="1658112"/>
            <a:ext cx="0" cy="597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Rounded Rectangle 5"/>
          <p:cNvSpPr/>
          <p:nvPr/>
        </p:nvSpPr>
        <p:spPr>
          <a:xfrm>
            <a:off x="5033963" y="2255520"/>
            <a:ext cx="2133600" cy="719328"/>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Authentication</a:t>
            </a:r>
            <a:endParaRPr lang="en-IN" dirty="0">
              <a:latin typeface="Times New Roman" panose="02020603050405020304" pitchFamily="18" charset="0"/>
              <a:cs typeface="Times New Roman" panose="02020603050405020304" pitchFamily="18" charset="0"/>
            </a:endParaRPr>
          </a:p>
        </p:txBody>
      </p:sp>
      <p:cxnSp>
        <p:nvCxnSpPr>
          <p:cNvPr id="39" name="Straight Arrow Connector 38"/>
          <p:cNvCxnSpPr/>
          <p:nvPr/>
        </p:nvCxnSpPr>
        <p:spPr>
          <a:xfrm>
            <a:off x="6094667" y="2923161"/>
            <a:ext cx="0" cy="5974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Rounded Rectangle 39"/>
          <p:cNvSpPr/>
          <p:nvPr/>
        </p:nvSpPr>
        <p:spPr>
          <a:xfrm>
            <a:off x="5033963" y="3520569"/>
            <a:ext cx="2133600" cy="719328"/>
          </a:xfrm>
          <a:prstGeom prst="round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Dashboard </a:t>
            </a:r>
            <a:endParaRPr lang="en-IN" dirty="0">
              <a:latin typeface="Times New Roman" panose="02020603050405020304" pitchFamily="18" charset="0"/>
              <a:cs typeface="Times New Roman" panose="02020603050405020304" pitchFamily="18" charset="0"/>
            </a:endParaRPr>
          </a:p>
        </p:txBody>
      </p:sp>
      <p:cxnSp>
        <p:nvCxnSpPr>
          <p:cNvPr id="70" name="Curved Connector 69"/>
          <p:cNvCxnSpPr/>
          <p:nvPr/>
        </p:nvCxnSpPr>
        <p:spPr>
          <a:xfrm>
            <a:off x="7132321" y="3862766"/>
            <a:ext cx="2156651" cy="1210001"/>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6" name="Curved Connector 75"/>
          <p:cNvCxnSpPr/>
          <p:nvPr/>
        </p:nvCxnSpPr>
        <p:spPr>
          <a:xfrm rot="10800000" flipV="1">
            <a:off x="3308129" y="3880233"/>
            <a:ext cx="1725834" cy="1423470"/>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9" name="Rectangle 98"/>
          <p:cNvSpPr/>
          <p:nvPr/>
        </p:nvSpPr>
        <p:spPr>
          <a:xfrm>
            <a:off x="9318007" y="4782640"/>
            <a:ext cx="2083017" cy="621609"/>
          </a:xfrm>
          <a:prstGeom prst="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latin typeface="Times New Roman" panose="02020603050405020304" pitchFamily="18" charset="0"/>
                <a:cs typeface="Times New Roman" panose="02020603050405020304" pitchFamily="18" charset="0"/>
              </a:rPr>
              <a:t>Consumer</a:t>
            </a:r>
            <a:endParaRPr lang="en-IN" dirty="0">
              <a:latin typeface="Times New Roman" panose="02020603050405020304" pitchFamily="18" charset="0"/>
              <a:cs typeface="Times New Roman" panose="02020603050405020304" pitchFamily="18" charset="0"/>
            </a:endParaRPr>
          </a:p>
        </p:txBody>
      </p:sp>
      <p:sp>
        <p:nvSpPr>
          <p:cNvPr id="100" name="Rectangle 99"/>
          <p:cNvSpPr/>
          <p:nvPr/>
        </p:nvSpPr>
        <p:spPr>
          <a:xfrm>
            <a:off x="792481" y="5119638"/>
            <a:ext cx="2515648" cy="621609"/>
          </a:xfrm>
          <a:prstGeom prst="rect">
            <a:avLst/>
          </a:prstGeom>
          <a:solidFill>
            <a:schemeClr val="bg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smtClean="0">
                <a:latin typeface="Times New Roman" panose="02020603050405020304" pitchFamily="18" charset="0"/>
                <a:cs typeface="Times New Roman" panose="02020603050405020304" pitchFamily="18" charset="0"/>
              </a:rPr>
              <a:t>Farmer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0585465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5056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sz="1600" b="1" dirty="0">
              <a:latin typeface="Times New Roman" panose="02020603050405020304" pitchFamily="18" charset="0"/>
              <a:cs typeface="Times New Roman" panose="02020603050405020304" pitchFamily="18" charset="0"/>
            </a:endParaRPr>
          </a:p>
        </p:txBody>
      </p:sp>
      <p:sp>
        <p:nvSpPr>
          <p:cNvPr id="74" name="Rectangle 73"/>
          <p:cNvSpPr/>
          <p:nvPr/>
        </p:nvSpPr>
        <p:spPr>
          <a:xfrm>
            <a:off x="550870" y="533299"/>
            <a:ext cx="5020874" cy="369332"/>
          </a:xfrm>
          <a:prstGeom prst="rect">
            <a:avLst/>
          </a:prstGeom>
        </p:spPr>
        <p:txBody>
          <a:bodyPr wrap="square">
            <a:spAutoFit/>
          </a:bodyPr>
          <a:lstStyle/>
          <a:p>
            <a:r>
              <a:rPr lang="en-US" b="1" spc="3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DFD LEVEL 2</a:t>
            </a:r>
            <a:endParaRPr lang="en-IN" b="1" spc="3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Oval 1"/>
          <p:cNvSpPr/>
          <p:nvPr/>
        </p:nvSpPr>
        <p:spPr>
          <a:xfrm>
            <a:off x="5319047" y="379244"/>
            <a:ext cx="1597152" cy="515058"/>
          </a:xfrm>
          <a:prstGeom prst="ellipse">
            <a:avLst/>
          </a:prstGeom>
          <a:solidFill>
            <a:schemeClr val="bg2">
              <a:lumMod val="75000"/>
            </a:schemeClr>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S</a:t>
            </a:r>
            <a:r>
              <a:rPr lang="en-US" dirty="0" smtClean="0">
                <a:solidFill>
                  <a:schemeClr val="tx1"/>
                </a:solidFill>
                <a:latin typeface="Times New Roman" panose="02020603050405020304" pitchFamily="18" charset="0"/>
                <a:cs typeface="Times New Roman" panose="02020603050405020304" pitchFamily="18" charset="0"/>
              </a:rPr>
              <a:t>tart</a:t>
            </a:r>
            <a:endParaRPr lang="en-IN" dirty="0">
              <a:solidFill>
                <a:schemeClr val="tx1"/>
              </a:solidFill>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a:xfrm>
            <a:off x="6117623" y="879967"/>
            <a:ext cx="0" cy="3148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Rounded Rectangle 5"/>
          <p:cNvSpPr/>
          <p:nvPr/>
        </p:nvSpPr>
        <p:spPr>
          <a:xfrm>
            <a:off x="5385645" y="1187797"/>
            <a:ext cx="1656717" cy="494681"/>
          </a:xfrm>
          <a:prstGeom prst="roundRect">
            <a:avLst/>
          </a:prstGeom>
          <a:solidFill>
            <a:schemeClr val="accent2">
              <a:lumMod val="40000"/>
              <a:lumOff val="6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Authentication</a:t>
            </a:r>
            <a:endParaRPr lang="en-IN" dirty="0">
              <a:latin typeface="Times New Roman" panose="02020603050405020304" pitchFamily="18" charset="0"/>
              <a:cs typeface="Times New Roman" panose="02020603050405020304" pitchFamily="18" charset="0"/>
            </a:endParaRPr>
          </a:p>
        </p:txBody>
      </p:sp>
      <p:sp>
        <p:nvSpPr>
          <p:cNvPr id="40" name="Rounded Rectangle 39"/>
          <p:cNvSpPr/>
          <p:nvPr/>
        </p:nvSpPr>
        <p:spPr>
          <a:xfrm>
            <a:off x="5156360" y="2022636"/>
            <a:ext cx="2133600" cy="719328"/>
          </a:xfrm>
          <a:prstGeom prst="roundRect">
            <a:avLst/>
          </a:prstGeom>
          <a:solidFill>
            <a:schemeClr val="accent4"/>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Dashboard – Role Based Access</a:t>
            </a:r>
            <a:endParaRPr lang="en-IN" dirty="0">
              <a:latin typeface="Times New Roman" panose="02020603050405020304" pitchFamily="18" charset="0"/>
              <a:cs typeface="Times New Roman" panose="02020603050405020304" pitchFamily="18" charset="0"/>
            </a:endParaRPr>
          </a:p>
        </p:txBody>
      </p:sp>
      <p:sp>
        <p:nvSpPr>
          <p:cNvPr id="99" name="Rectangle 98"/>
          <p:cNvSpPr/>
          <p:nvPr/>
        </p:nvSpPr>
        <p:spPr>
          <a:xfrm>
            <a:off x="9628143" y="3312156"/>
            <a:ext cx="1473386" cy="621609"/>
          </a:xfrm>
          <a:prstGeom prst="rect">
            <a:avLst/>
          </a:prstGeom>
          <a:solidFill>
            <a:schemeClr val="accent6">
              <a:lumMod val="60000"/>
              <a:lumOff val="4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Consumer</a:t>
            </a:r>
            <a:endParaRPr lang="en-IN" dirty="0">
              <a:latin typeface="Times New Roman" panose="02020603050405020304" pitchFamily="18" charset="0"/>
              <a:cs typeface="Times New Roman" panose="02020603050405020304" pitchFamily="18" charset="0"/>
            </a:endParaRPr>
          </a:p>
        </p:txBody>
      </p:sp>
      <p:sp>
        <p:nvSpPr>
          <p:cNvPr id="100" name="Rectangle 99"/>
          <p:cNvSpPr/>
          <p:nvPr/>
        </p:nvSpPr>
        <p:spPr>
          <a:xfrm>
            <a:off x="1269712" y="3354669"/>
            <a:ext cx="1109835" cy="621609"/>
          </a:xfrm>
          <a:prstGeom prst="rect">
            <a:avLst/>
          </a:prstGeom>
          <a:solidFill>
            <a:schemeClr val="accent6">
              <a:lumMod val="60000"/>
              <a:lumOff val="4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Farmer</a:t>
            </a:r>
            <a:endParaRPr lang="en-IN" dirty="0">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flipV="1">
            <a:off x="7042362" y="1071432"/>
            <a:ext cx="423208" cy="282949"/>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a:off x="7045534" y="1338044"/>
            <a:ext cx="420036" cy="192796"/>
          </a:xfrm>
          <a:prstGeom prst="line">
            <a:avLst/>
          </a:prstGeom>
        </p:spPr>
        <p:style>
          <a:lnRef idx="1">
            <a:schemeClr val="dk1"/>
          </a:lnRef>
          <a:fillRef idx="0">
            <a:schemeClr val="dk1"/>
          </a:fillRef>
          <a:effectRef idx="0">
            <a:schemeClr val="dk1"/>
          </a:effectRef>
          <a:fontRef idx="minor">
            <a:schemeClr val="tx1"/>
          </a:fontRef>
        </p:style>
      </p:cxnSp>
      <p:sp>
        <p:nvSpPr>
          <p:cNvPr id="20" name="Rectangle 19"/>
          <p:cNvSpPr/>
          <p:nvPr/>
        </p:nvSpPr>
        <p:spPr>
          <a:xfrm>
            <a:off x="7490876" y="811839"/>
            <a:ext cx="899432" cy="451104"/>
          </a:xfrm>
          <a:prstGeom prst="rect">
            <a:avLst/>
          </a:prstGeom>
          <a:solidFill>
            <a:schemeClr val="accent2">
              <a:lumMod val="7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Login</a:t>
            </a:r>
            <a:endParaRPr lang="en-IN" dirty="0">
              <a:latin typeface="Times New Roman" panose="02020603050405020304" pitchFamily="18" charset="0"/>
              <a:cs typeface="Times New Roman" panose="02020603050405020304" pitchFamily="18" charset="0"/>
            </a:endParaRPr>
          </a:p>
        </p:txBody>
      </p:sp>
      <p:sp>
        <p:nvSpPr>
          <p:cNvPr id="37" name="Rectangle 36"/>
          <p:cNvSpPr/>
          <p:nvPr/>
        </p:nvSpPr>
        <p:spPr>
          <a:xfrm>
            <a:off x="7472675" y="1407190"/>
            <a:ext cx="1049533" cy="451104"/>
          </a:xfrm>
          <a:prstGeom prst="rect">
            <a:avLst/>
          </a:prstGeom>
          <a:solidFill>
            <a:schemeClr val="accent2">
              <a:lumMod val="7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Register</a:t>
            </a:r>
            <a:endParaRPr lang="en-IN" dirty="0">
              <a:latin typeface="Times New Roman" panose="02020603050405020304" pitchFamily="18" charset="0"/>
              <a:cs typeface="Times New Roman" panose="02020603050405020304" pitchFamily="18" charset="0"/>
            </a:endParaRPr>
          </a:p>
        </p:txBody>
      </p:sp>
      <p:cxnSp>
        <p:nvCxnSpPr>
          <p:cNvPr id="31" name="Straight Arrow Connector 30"/>
          <p:cNvCxnSpPr/>
          <p:nvPr/>
        </p:nvCxnSpPr>
        <p:spPr>
          <a:xfrm>
            <a:off x="6117623" y="1682478"/>
            <a:ext cx="0" cy="3148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Connector 12"/>
          <p:cNvCxnSpPr>
            <a:stCxn id="40" idx="2"/>
          </p:cNvCxnSpPr>
          <p:nvPr/>
        </p:nvCxnSpPr>
        <p:spPr>
          <a:xfrm>
            <a:off x="6223160" y="2741964"/>
            <a:ext cx="0" cy="26946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p:nvPr/>
        </p:nvCxnSpPr>
        <p:spPr>
          <a:xfrm flipH="1">
            <a:off x="1824629" y="3000848"/>
            <a:ext cx="4480834" cy="10576"/>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flipH="1" flipV="1">
            <a:off x="6201812" y="3003096"/>
            <a:ext cx="4163024" cy="14917"/>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Arrow Connector 43"/>
          <p:cNvCxnSpPr/>
          <p:nvPr/>
        </p:nvCxnSpPr>
        <p:spPr>
          <a:xfrm>
            <a:off x="1824629" y="3000848"/>
            <a:ext cx="0" cy="3538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flipH="1">
            <a:off x="10356362" y="3026394"/>
            <a:ext cx="8474" cy="2893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a:off x="1824629" y="4031828"/>
            <a:ext cx="0" cy="3148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p:cNvCxnSpPr/>
          <p:nvPr/>
        </p:nvCxnSpPr>
        <p:spPr>
          <a:xfrm>
            <a:off x="10382742" y="3926619"/>
            <a:ext cx="0" cy="3148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Rectangle 63"/>
          <p:cNvSpPr/>
          <p:nvPr/>
        </p:nvSpPr>
        <p:spPr>
          <a:xfrm>
            <a:off x="9236366" y="4241469"/>
            <a:ext cx="2597815" cy="2143496"/>
          </a:xfrm>
          <a:prstGeom prst="rect">
            <a:avLst/>
          </a:prstGeom>
          <a:solidFill>
            <a:schemeClr val="accent5">
              <a:lumMod val="60000"/>
              <a:lumOff val="4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buAutoNum type="arabicPeriod"/>
            </a:pPr>
            <a:r>
              <a:rPr lang="en-GB" dirty="0" smtClean="0">
                <a:latin typeface="Times New Roman" panose="02020603050405020304" pitchFamily="18" charset="0"/>
                <a:cs typeface="Times New Roman" panose="02020603050405020304" pitchFamily="18" charset="0"/>
              </a:rPr>
              <a:t>Marketplace</a:t>
            </a:r>
          </a:p>
          <a:p>
            <a:pPr marL="342900" indent="-342900" algn="ctr">
              <a:buAutoNum type="arabicPeriod"/>
            </a:pPr>
            <a:r>
              <a:rPr lang="en-GB" dirty="0" smtClean="0">
                <a:latin typeface="Times New Roman" panose="02020603050405020304" pitchFamily="18" charset="0"/>
                <a:cs typeface="Times New Roman" panose="02020603050405020304" pitchFamily="18" charset="0"/>
              </a:rPr>
              <a:t>Favourite</a:t>
            </a:r>
          </a:p>
          <a:p>
            <a:pPr marL="342900" indent="-342900" algn="ctr">
              <a:buAutoNum type="arabicPeriod"/>
            </a:pPr>
            <a:r>
              <a:rPr lang="en-GB" dirty="0" smtClean="0">
                <a:latin typeface="Times New Roman" panose="02020603050405020304" pitchFamily="18" charset="0"/>
                <a:cs typeface="Times New Roman" panose="02020603050405020304" pitchFamily="18" charset="0"/>
              </a:rPr>
              <a:t>Add to Cart</a:t>
            </a:r>
          </a:p>
          <a:p>
            <a:pPr marL="342900" indent="-342900" algn="ctr">
              <a:buAutoNum type="arabicPeriod"/>
            </a:pPr>
            <a:r>
              <a:rPr lang="en-GB" dirty="0" smtClean="0">
                <a:latin typeface="Times New Roman" panose="02020603050405020304" pitchFamily="18" charset="0"/>
                <a:cs typeface="Times New Roman" panose="02020603050405020304" pitchFamily="18" charset="0"/>
              </a:rPr>
              <a:t>View Orders</a:t>
            </a:r>
          </a:p>
          <a:p>
            <a:pPr marL="342900" indent="-342900" algn="ctr">
              <a:buAutoNum type="arabicPeriod"/>
            </a:pPr>
            <a:r>
              <a:rPr lang="en-GB" dirty="0" smtClean="0">
                <a:latin typeface="Times New Roman" panose="02020603050405020304" pitchFamily="18" charset="0"/>
                <a:cs typeface="Times New Roman" panose="02020603050405020304" pitchFamily="18" charset="0"/>
              </a:rPr>
              <a:t>Feedback</a:t>
            </a:r>
            <a:endParaRPr lang="en-IN" dirty="0">
              <a:latin typeface="Times New Roman" panose="02020603050405020304" pitchFamily="18" charset="0"/>
              <a:cs typeface="Times New Roman" panose="02020603050405020304" pitchFamily="18" charset="0"/>
            </a:endParaRPr>
          </a:p>
        </p:txBody>
      </p:sp>
      <p:sp>
        <p:nvSpPr>
          <p:cNvPr id="67" name="Rectangle 66"/>
          <p:cNvSpPr/>
          <p:nvPr/>
        </p:nvSpPr>
        <p:spPr>
          <a:xfrm>
            <a:off x="550870" y="4369264"/>
            <a:ext cx="2731008" cy="1688706"/>
          </a:xfrm>
          <a:prstGeom prst="rect">
            <a:avLst/>
          </a:prstGeom>
          <a:solidFill>
            <a:schemeClr val="accent5">
              <a:lumMod val="60000"/>
              <a:lumOff val="4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buAutoNum type="arabicPeriod"/>
            </a:pPr>
            <a:r>
              <a:rPr lang="en-GB" dirty="0" smtClean="0">
                <a:latin typeface="Times New Roman" panose="02020603050405020304" pitchFamily="18" charset="0"/>
                <a:cs typeface="Times New Roman" panose="02020603050405020304" pitchFamily="18" charset="0"/>
              </a:rPr>
              <a:t>Add Product</a:t>
            </a:r>
          </a:p>
          <a:p>
            <a:pPr marL="342900" indent="-342900" algn="ctr">
              <a:buAutoNum type="arabicPeriod"/>
            </a:pPr>
            <a:r>
              <a:rPr lang="en-GB" dirty="0" smtClean="0">
                <a:latin typeface="Times New Roman" panose="02020603050405020304" pitchFamily="18" charset="0"/>
                <a:cs typeface="Times New Roman" panose="02020603050405020304" pitchFamily="18" charset="0"/>
              </a:rPr>
              <a:t>View Product</a:t>
            </a:r>
          </a:p>
          <a:p>
            <a:pPr marL="342900" indent="-342900" algn="ctr">
              <a:buAutoNum type="arabicPeriod"/>
            </a:pPr>
            <a:r>
              <a:rPr lang="en-GB" dirty="0" smtClean="0">
                <a:latin typeface="Times New Roman" panose="02020603050405020304" pitchFamily="18" charset="0"/>
                <a:cs typeface="Times New Roman" panose="02020603050405020304" pitchFamily="18" charset="0"/>
              </a:rPr>
              <a:t>View Orders</a:t>
            </a:r>
          </a:p>
          <a:p>
            <a:pPr marL="342900" indent="-342900" algn="ctr">
              <a:buAutoNum type="arabicPeriod"/>
            </a:pPr>
            <a:r>
              <a:rPr lang="en-GB" dirty="0" smtClean="0">
                <a:latin typeface="Times New Roman" panose="02020603050405020304" pitchFamily="18" charset="0"/>
                <a:cs typeface="Times New Roman" panose="02020603050405020304" pitchFamily="18" charset="0"/>
              </a:rPr>
              <a:t>Progress</a:t>
            </a:r>
          </a:p>
        </p:txBody>
      </p:sp>
    </p:spTree>
    <p:extLst>
      <p:ext uri="{BB962C8B-B14F-4D97-AF65-F5344CB8AC3E}">
        <p14:creationId xmlns:p14="http://schemas.microsoft.com/office/powerpoint/2010/main" xmlns="" val="38303613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4463" y="76041"/>
            <a:ext cx="10515600" cy="1325563"/>
          </a:xfrm>
        </p:spPr>
        <p:txBody>
          <a:bodyPr>
            <a:normAutofit/>
          </a:bodyPr>
          <a:lstStyle/>
          <a:p>
            <a:r>
              <a:rPr lang="en-IN" sz="3600" b="1" spc="3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USECASE- DIAGRAM </a:t>
            </a:r>
            <a:endParaRPr lang="en-IN" sz="3600" spc="300" dirty="0">
              <a:effectLst>
                <a:outerShdw blurRad="38100" dist="38100" dir="2700000" algn="tl">
                  <a:srgbClr val="000000">
                    <a:alpha val="43137"/>
                  </a:srgbClr>
                </a:outerShdw>
              </a:effectLst>
            </a:endParaRPr>
          </a:p>
        </p:txBody>
      </p:sp>
      <p:sp>
        <p:nvSpPr>
          <p:cNvPr id="4" name="Rectangle 3"/>
          <p:cNvSpPr/>
          <p:nvPr/>
        </p:nvSpPr>
        <p:spPr>
          <a:xfrm>
            <a:off x="141668" y="242888"/>
            <a:ext cx="11788395"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1030" name="Picture 6" descr="PlantUML diagra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30522" y="1842447"/>
            <a:ext cx="10810686" cy="37121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7018033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60109"/>
            <a:ext cx="10515600" cy="1325563"/>
          </a:xfrm>
        </p:spPr>
        <p:txBody>
          <a:bodyPr>
            <a:normAutofit/>
          </a:bodyPr>
          <a:lstStyle/>
          <a:p>
            <a:r>
              <a:rPr lang="en-IN" sz="3200" b="1" spc="3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 </a:t>
            </a:r>
            <a:endParaRPr lang="en-IN" sz="3200" spc="3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111525"/>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pic>
        <p:nvPicPr>
          <p:cNvPr id="3074" name="Picture 2" descr="PlantUML diagra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657719" y="1194132"/>
            <a:ext cx="4886088" cy="50482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944470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 name="Rectangle 2"/>
          <p:cNvSpPr/>
          <p:nvPr/>
        </p:nvSpPr>
        <p:spPr>
          <a:xfrm>
            <a:off x="4219618" y="347679"/>
            <a:ext cx="3941592" cy="523220"/>
          </a:xfrm>
          <a:prstGeom prst="rect">
            <a:avLst/>
          </a:prstGeom>
        </p:spPr>
        <p:txBody>
          <a:bodyPr wrap="none">
            <a:spAutoFit/>
          </a:bodyPr>
          <a:lstStyle/>
          <a:p>
            <a:r>
              <a:rPr lang="en-IN" sz="2800" b="1">
                <a:latin typeface="Times New Roman" panose="02020603050405020304" pitchFamily="18" charset="0"/>
                <a:cs typeface="Times New Roman" panose="02020603050405020304" pitchFamily="18" charset="0"/>
              </a:rPr>
              <a:t>ACTIVITY DIAGRAM </a:t>
            </a:r>
            <a:endParaRPr lang="en-IN" sz="2800" dirty="0"/>
          </a:p>
        </p:txBody>
      </p:sp>
      <p:pic>
        <p:nvPicPr>
          <p:cNvPr id="4098" name="Picture 2" descr="PlantUML diagra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462646" y="1051219"/>
            <a:ext cx="5276233" cy="539786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8476835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232857" y="478545"/>
            <a:ext cx="6096000" cy="1077218"/>
          </a:xfrm>
          <a:prstGeom prst="rect">
            <a:avLst/>
          </a:prstGeom>
        </p:spPr>
        <p:txBody>
          <a:bodyPr>
            <a:spAutoFit/>
          </a:bodyPr>
          <a:lstStyle/>
          <a:p>
            <a:r>
              <a:rPr lang="en-IN" sz="3200" b="1" dirty="0" smtClean="0">
                <a:latin typeface="Times New Roman" panose="02020603050405020304" pitchFamily="18" charset="0"/>
                <a:cs typeface="Times New Roman" panose="02020603050405020304" pitchFamily="18" charset="0"/>
              </a:rPr>
              <a:t>ER ARCHITECTURE</a:t>
            </a:r>
            <a:r>
              <a:rPr lang="en-IN" sz="3200" dirty="0" smtClean="0">
                <a:latin typeface="Times New Roman" panose="02020603050405020304" pitchFamily="18" charset="0"/>
                <a:cs typeface="Times New Roman" panose="02020603050405020304" pitchFamily="18" charset="0"/>
              </a:rPr>
              <a:t/>
            </a:r>
            <a:br>
              <a:rPr lang="en-IN" sz="3200" dirty="0" smtClean="0">
                <a:latin typeface="Times New Roman" panose="02020603050405020304" pitchFamily="18" charset="0"/>
                <a:cs typeface="Times New Roman" panose="02020603050405020304" pitchFamily="18" charset="0"/>
              </a:rPr>
            </a:br>
            <a:endParaRPr lang="en-IN" sz="3200" dirty="0"/>
          </a:p>
        </p:txBody>
      </p:sp>
      <p:pic>
        <p:nvPicPr>
          <p:cNvPr id="5122" name="Picture 2" descr="PlantUML diagra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122863" y="1383900"/>
            <a:ext cx="3955800" cy="480299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4121241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404552" y="474513"/>
            <a:ext cx="3765774" cy="584775"/>
          </a:xfrm>
          <a:prstGeom prst="rect">
            <a:avLst/>
          </a:prstGeom>
        </p:spPr>
        <p:txBody>
          <a:bodyPr wrap="none">
            <a:spAutoFit/>
          </a:bodyPr>
          <a:lstStyle/>
          <a:p>
            <a:r>
              <a:rPr lang="en-US" sz="3200" b="1" dirty="0" smtClean="0">
                <a:latin typeface="Times New Roman" panose="02020603050405020304" pitchFamily="18" charset="0"/>
                <a:cs typeface="Times New Roman" panose="02020603050405020304" pitchFamily="18" charset="0"/>
              </a:rPr>
              <a:t>CLASS DIAGRAM</a:t>
            </a:r>
            <a:r>
              <a:rPr lang="en-IN" sz="3200" b="1" dirty="0" smtClean="0">
                <a:latin typeface="Times New Roman" panose="02020603050405020304" pitchFamily="18" charset="0"/>
                <a:cs typeface="Times New Roman" panose="02020603050405020304" pitchFamily="18" charset="0"/>
                <a:sym typeface="Symbol" panose="05050102010706020507" pitchFamily="18" charset="2"/>
              </a:rPr>
              <a:t> </a:t>
            </a:r>
            <a:endParaRPr lang="en-IN" sz="3200" dirty="0"/>
          </a:p>
        </p:txBody>
      </p:sp>
      <p:pic>
        <p:nvPicPr>
          <p:cNvPr id="2050" name="Picture 2" descr="PlantUML diagra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971499" y="1290913"/>
            <a:ext cx="4004694" cy="477733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13477465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Rectangle 3"/>
          <p:cNvSpPr/>
          <p:nvPr/>
        </p:nvSpPr>
        <p:spPr>
          <a:xfrm>
            <a:off x="3899921" y="2471602"/>
            <a:ext cx="4647426" cy="584775"/>
          </a:xfrm>
          <a:prstGeom prst="rect">
            <a:avLst/>
          </a:prstGeom>
        </p:spPr>
        <p:txBody>
          <a:bodyPr wrap="none">
            <a:spAutoFit/>
          </a:bodyPr>
          <a:lstStyle/>
          <a:p>
            <a:r>
              <a:rPr lang="en-US" sz="3200" b="1" dirty="0" smtClean="0">
                <a:latin typeface="Times New Roman" pitchFamily="18" charset="0"/>
                <a:cs typeface="Times New Roman" pitchFamily="18" charset="0"/>
              </a:rPr>
              <a:t>LITERATURE SURVEY</a:t>
            </a:r>
            <a:endParaRPr lang="en-IN" sz="3200" dirty="0"/>
          </a:p>
        </p:txBody>
      </p:sp>
    </p:spTree>
    <p:extLst>
      <p:ext uri="{BB962C8B-B14F-4D97-AF65-F5344CB8AC3E}">
        <p14:creationId xmlns:p14="http://schemas.microsoft.com/office/powerpoint/2010/main" xmlns="" val="15880216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4"/>
          <p:cNvSpPr/>
          <p:nvPr/>
        </p:nvSpPr>
        <p:spPr>
          <a:xfrm>
            <a:off x="4582493" y="258588"/>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SURVEY 1</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xmlns="" val="3336589378"/>
              </p:ext>
            </p:extLst>
          </p:nvPr>
        </p:nvGraphicFramePr>
        <p:xfrm>
          <a:off x="342916" y="609664"/>
          <a:ext cx="11251676" cy="5675851"/>
        </p:xfrm>
        <a:graphic>
          <a:graphicData uri="http://schemas.openxmlformats.org/drawingml/2006/table">
            <a:tbl>
              <a:tblPr firstRow="1" bandRow="1">
                <a:effectLst>
                  <a:outerShdw blurRad="50800" dist="38100" dir="5400000" algn="t" rotWithShape="0">
                    <a:prstClr val="black">
                      <a:alpha val="40000"/>
                    </a:prstClr>
                  </a:outerShdw>
                </a:effectLst>
                <a:tableStyleId>{BC89EF96-8CEA-46FF-86C4-4CE0E7609802}</a:tableStyleId>
              </a:tblPr>
              <a:tblGrid>
                <a:gridCol w="1662515"/>
                <a:gridCol w="786727"/>
                <a:gridCol w="1311262"/>
                <a:gridCol w="4223110"/>
                <a:gridCol w="3268062"/>
              </a:tblGrid>
              <a:tr h="670496">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800" smtClean="0">
                          <a:solidFill>
                            <a:schemeClr val="tx1"/>
                          </a:solidFill>
                          <a:latin typeface="Times New Roman" panose="02020603050405020304" pitchFamily="18" charset="0"/>
                          <a:cs typeface="Times New Roman" panose="02020603050405020304" pitchFamily="18" charset="0"/>
                        </a:rPr>
                        <a:t>Methodology</a:t>
                      </a:r>
                      <a:endParaRPr lang="en-IN" sz="180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smtClean="0">
                          <a:latin typeface="Times New Roman" panose="02020603050405020304" pitchFamily="18" charset="0"/>
                          <a:cs typeface="Times New Roman" panose="02020603050405020304" pitchFamily="18" charset="0"/>
                        </a:rPr>
                        <a:t>Demerits</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r h="4761451">
                <a:tc>
                  <a:txBody>
                    <a:bodyPr/>
                    <a:lstStyle/>
                    <a:p>
                      <a:pPr>
                        <a:lnSpc>
                          <a:spcPct val="150000"/>
                        </a:lnSpc>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nSpc>
                          <a:spcPct val="150000"/>
                        </a:lnSpc>
                      </a:pPr>
                      <a:r>
                        <a:rPr lang="en-US" sz="1800" dirty="0" smtClean="0">
                          <a:effectLst/>
                          <a:latin typeface="Times New Roman" panose="02020603050405020304" pitchFamily="18" charset="0"/>
                          <a:ea typeface="Times New Roman" panose="02020603050405020304" pitchFamily="18" charset="0"/>
                        </a:rPr>
                        <a:t>Real-Time Inventory Management Systems for Perishable Goods</a:t>
                      </a: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txBody>
                  <a:tcPr>
                    <a:solidFill>
                      <a:schemeClr val="accent1">
                        <a:lumMod val="50000"/>
                        <a:alpha val="20000"/>
                      </a:schemeClr>
                    </a:solidFill>
                  </a:tcPr>
                </a:tc>
                <a:tc>
                  <a:txBody>
                    <a:bodyPr/>
                    <a:lstStyle/>
                    <a:p>
                      <a:pPr>
                        <a:lnSpc>
                          <a:spcPct val="150000"/>
                        </a:lnSpc>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nSpc>
                          <a:spcPct val="150000"/>
                        </a:lnSpc>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nSpc>
                          <a:spcPct val="150000"/>
                        </a:lnSpc>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nSpc>
                          <a:spcPct val="150000"/>
                        </a:lnSpc>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nSpc>
                          <a:spcPct val="150000"/>
                        </a:lnSpc>
                      </a:pP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solidFill>
                      <a:schemeClr val="accent1">
                        <a:lumMod val="50000"/>
                        <a:alpha val="20000"/>
                      </a:schemeClr>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gn="just">
                        <a:lnSpc>
                          <a:spcPct val="150000"/>
                        </a:lnSpc>
                        <a:spcAft>
                          <a:spcPts val="800"/>
                        </a:spcAft>
                        <a:tabLst>
                          <a:tab pos="5048250" algn="l"/>
                        </a:tabLst>
                      </a:pPr>
                      <a:r>
                        <a:rPr lang="en-US" sz="1800" dirty="0" smtClean="0">
                          <a:effectLst/>
                          <a:latin typeface="Times New Roman" panose="02020603050405020304" pitchFamily="18" charset="0"/>
                          <a:ea typeface="Times New Roman" panose="02020603050405020304" pitchFamily="18" charset="0"/>
                        </a:rPr>
                        <a:t>X. Wang, P. Gupta, H. Rodriguez</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Development and testing of machine learning algorithms for dynamic inventory prediction using historical sales data, weather patterns, and seasonal trends. Implemented as a case study across 50 farm businesses over 12 months, comparing waste reduction and sales optimization metrics.</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Requires substantial historical data for algorithm accuracy, posing challenges for new farmers.</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r>
            </a:tbl>
          </a:graphicData>
        </a:graphic>
      </p:graphicFrame>
    </p:spTree>
    <p:extLst>
      <p:ext uri="{BB962C8B-B14F-4D97-AF65-F5344CB8AC3E}">
        <p14:creationId xmlns:p14="http://schemas.microsoft.com/office/powerpoint/2010/main" xmlns="" val="8102830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Rectangle 6"/>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Rectangle 7"/>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Rectangle 8"/>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0" name="Rectangle 9"/>
          <p:cNvSpPr/>
          <p:nvPr/>
        </p:nvSpPr>
        <p:spPr>
          <a:xfrm>
            <a:off x="4582493" y="258588"/>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SURVEY </a:t>
            </a:r>
            <a:r>
              <a:rPr lang="en-IN" b="1" dirty="0" smtClean="0">
                <a:latin typeface="Times New Roman" panose="02020603050405020304" pitchFamily="18" charset="0"/>
                <a:cs typeface="Times New Roman" panose="02020603050405020304" pitchFamily="18" charset="0"/>
              </a:rPr>
              <a:t>2</a:t>
            </a:r>
            <a:endParaRPr lang="en-IN" dirty="0"/>
          </a:p>
        </p:txBody>
      </p:sp>
      <p:graphicFrame>
        <p:nvGraphicFramePr>
          <p:cNvPr id="11" name="Table 10"/>
          <p:cNvGraphicFramePr>
            <a:graphicFrameLocks noGrp="1"/>
          </p:cNvGraphicFramePr>
          <p:nvPr>
            <p:extLst>
              <p:ext uri="{D42A27DB-BD31-4B8C-83A1-F6EECF244321}">
                <p14:modId xmlns:p14="http://schemas.microsoft.com/office/powerpoint/2010/main" xmlns="" val="505223168"/>
              </p:ext>
            </p:extLst>
          </p:nvPr>
        </p:nvGraphicFramePr>
        <p:xfrm>
          <a:off x="433902" y="762032"/>
          <a:ext cx="11227011" cy="5656007"/>
        </p:xfrm>
        <a:graphic>
          <a:graphicData uri="http://schemas.openxmlformats.org/drawingml/2006/table">
            <a:tbl>
              <a:tblPr firstRow="1" bandRow="1">
                <a:effectLst>
                  <a:outerShdw blurRad="50800" dist="38100" dir="5400000" algn="t" rotWithShape="0">
                    <a:prstClr val="black">
                      <a:alpha val="40000"/>
                    </a:prstClr>
                  </a:outerShdw>
                </a:effectLst>
                <a:tableStyleId>{BC89EF96-8CEA-46FF-86C4-4CE0E7609802}</a:tableStyleId>
              </a:tblPr>
              <a:tblGrid>
                <a:gridCol w="1658871"/>
                <a:gridCol w="785002"/>
                <a:gridCol w="1308388"/>
                <a:gridCol w="4213852"/>
                <a:gridCol w="3260898"/>
              </a:tblGrid>
              <a:tr h="875699">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800" dirty="0" smtClean="0">
                          <a:solidFill>
                            <a:schemeClr val="tx1"/>
                          </a:solidFill>
                          <a:latin typeface="Times New Roman" panose="02020603050405020304" pitchFamily="18" charset="0"/>
                          <a:cs typeface="Times New Roman" panose="02020603050405020304" pitchFamily="18" charset="0"/>
                        </a:rPr>
                        <a:t>Methodology</a:t>
                      </a:r>
                      <a:endParaRPr lang="en-IN" sz="1800"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Demerits</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r h="4741607">
                <a:tc>
                  <a:txBody>
                    <a:bodyPr/>
                    <a:lstStyle/>
                    <a:p>
                      <a:pPr algn="just">
                        <a:lnSpc>
                          <a:spcPct val="150000"/>
                        </a:lnSpc>
                      </a:pPr>
                      <a:r>
                        <a:rPr lang="en-US" sz="1800" dirty="0" smtClean="0">
                          <a:effectLst/>
                          <a:latin typeface="Times New Roman" panose="02020603050405020304" pitchFamily="18" charset="0"/>
                          <a:ea typeface="Times New Roman" panose="02020603050405020304" pitchFamily="18" charset="0"/>
                        </a:rPr>
                        <a:t>Sustainable Impact Assessment of Digital Farm-to-Consumer Models</a:t>
                      </a:r>
                      <a:endParaRPr lang="en-US" dirty="0">
                        <a:effectLst/>
                        <a:latin typeface="Times New Roman" panose="02020603050405020304" pitchFamily="18" charset="0"/>
                        <a:cs typeface="Times New Roman" panose="02020603050405020304" pitchFamily="18" charset="0"/>
                      </a:endParaRPr>
                    </a:p>
                  </a:txBody>
                  <a:tcPr marL="95250" marR="95250" marT="95250" marB="95250" anchor="ctr">
                    <a:solidFill>
                      <a:schemeClr val="accent1">
                        <a:lumMod val="50000"/>
                        <a:alpha val="20000"/>
                      </a:schemeClr>
                    </a:solidFill>
                  </a:tcPr>
                </a:tc>
                <a:tc>
                  <a:txBody>
                    <a:bodyPr/>
                    <a:lstStyle/>
                    <a:p>
                      <a:r>
                        <a:rPr lang="en-US" dirty="0" smtClean="0">
                          <a:effectLst/>
                          <a:latin typeface="Times New Roman" panose="02020603050405020304" pitchFamily="18" charset="0"/>
                          <a:cs typeface="Times New Roman" panose="02020603050405020304" pitchFamily="18" charset="0"/>
                        </a:rPr>
                        <a:t>2025</a:t>
                      </a:r>
                      <a:endParaRPr lang="en-IN" dirty="0">
                        <a:effectLst/>
                        <a:latin typeface="Times New Roman" panose="02020603050405020304" pitchFamily="18" charset="0"/>
                        <a:cs typeface="Times New Roman" panose="02020603050405020304" pitchFamily="18" charset="0"/>
                      </a:endParaRPr>
                    </a:p>
                  </a:txBody>
                  <a:tcPr marL="95250" marR="95250" marT="95250" marB="95250" anchor="ctr">
                    <a:solidFill>
                      <a:schemeClr val="accent1">
                        <a:lumMod val="50000"/>
                        <a:alpha val="20000"/>
                      </a:schemeClr>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 Garcia, T. Schmidt, M. O'Connor</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Life cycle analysis comparing carbon footprints of traditional vs. digital-direct agricultural supply chains across multiple metrics: transportation emissions, packaging waste, energy consumption in storage, and overall resource utilization. Includes case studies from 30 different farm operations.</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Does not account for the digital infrastructure's carbon footprint (servers, devices, etc.).</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r>
            </a:tbl>
          </a:graphicData>
        </a:graphic>
      </p:graphicFrame>
    </p:spTree>
    <p:extLst>
      <p:ext uri="{BB962C8B-B14F-4D97-AF65-F5344CB8AC3E}">
        <p14:creationId xmlns:p14="http://schemas.microsoft.com/office/powerpoint/2010/main" xmlns="" val="18052541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Rectangle 5"/>
          <p:cNvSpPr/>
          <p:nvPr/>
        </p:nvSpPr>
        <p:spPr>
          <a:xfrm>
            <a:off x="4582493" y="258588"/>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SURVEY </a:t>
            </a:r>
            <a:r>
              <a:rPr lang="en-IN" b="1" dirty="0" smtClean="0">
                <a:latin typeface="Times New Roman" panose="02020603050405020304" pitchFamily="18" charset="0"/>
                <a:cs typeface="Times New Roman" panose="02020603050405020304" pitchFamily="18" charset="0"/>
              </a:rPr>
              <a:t>3</a:t>
            </a:r>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xmlns="" val="1483223147"/>
              </p:ext>
            </p:extLst>
          </p:nvPr>
        </p:nvGraphicFramePr>
        <p:xfrm>
          <a:off x="397326" y="706136"/>
          <a:ext cx="11227011" cy="5656007"/>
        </p:xfrm>
        <a:graphic>
          <a:graphicData uri="http://schemas.openxmlformats.org/drawingml/2006/table">
            <a:tbl>
              <a:tblPr firstRow="1" bandRow="1">
                <a:effectLst>
                  <a:outerShdw blurRad="50800" dist="38100" dir="5400000" algn="t" rotWithShape="0">
                    <a:prstClr val="black">
                      <a:alpha val="40000"/>
                    </a:prstClr>
                  </a:outerShdw>
                </a:effectLst>
                <a:tableStyleId>{BC89EF96-8CEA-46FF-86C4-4CE0E7609802}</a:tableStyleId>
              </a:tblPr>
              <a:tblGrid>
                <a:gridCol w="1658871"/>
                <a:gridCol w="785002"/>
                <a:gridCol w="1308388"/>
                <a:gridCol w="4208802"/>
                <a:gridCol w="3265948"/>
              </a:tblGrid>
              <a:tr h="656309">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800" dirty="0" smtClean="0">
                          <a:solidFill>
                            <a:schemeClr val="tx1"/>
                          </a:solidFill>
                          <a:latin typeface="Times New Roman" panose="02020603050405020304" pitchFamily="18" charset="0"/>
                          <a:cs typeface="Times New Roman" panose="02020603050405020304" pitchFamily="18" charset="0"/>
                        </a:rPr>
                        <a:t>Methodology</a:t>
                      </a:r>
                      <a:endParaRPr lang="en-IN" sz="1800"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Demerits</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r h="4741607">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Digital Payment Security in Agricultural E-Commerce Platforms</a:t>
                      </a:r>
                      <a:endParaRPr lang="en-IN" sz="1100" dirty="0">
                        <a:effectLst/>
                        <a:latin typeface="Times New Roman" panose="02020603050405020304" pitchFamily="18" charset="0"/>
                        <a:ea typeface="Times New Roman" panose="02020603050405020304" pitchFamily="18" charset="0"/>
                      </a:endParaRPr>
                    </a:p>
                  </a:txBody>
                  <a:tcPr marL="95250" marR="95250" marT="95250" marB="95250" anchor="ctr">
                    <a:solidFill>
                      <a:schemeClr val="accent1">
                        <a:lumMod val="50000"/>
                        <a:alpha val="20000"/>
                      </a:schemeClr>
                    </a:solidFill>
                  </a:tcPr>
                </a:tc>
                <a:tc>
                  <a:txBody>
                    <a:bodyPr/>
                    <a:lstStyle/>
                    <a:p>
                      <a:r>
                        <a:rPr lang="en-US" dirty="0" smtClean="0">
                          <a:effectLst/>
                          <a:latin typeface="Times New Roman" panose="02020603050405020304" pitchFamily="18" charset="0"/>
                          <a:cs typeface="Times New Roman" panose="02020603050405020304" pitchFamily="18" charset="0"/>
                        </a:rPr>
                        <a:t>2024</a:t>
                      </a:r>
                      <a:endParaRPr lang="en-IN" dirty="0">
                        <a:effectLst/>
                        <a:latin typeface="Times New Roman" panose="02020603050405020304" pitchFamily="18" charset="0"/>
                        <a:cs typeface="Times New Roman" panose="02020603050405020304" pitchFamily="18" charset="0"/>
                      </a:endParaRPr>
                    </a:p>
                  </a:txBody>
                  <a:tcPr marL="95250" marR="95250" marT="95250" marB="95250" anchor="ctr">
                    <a:solidFill>
                      <a:schemeClr val="accent1">
                        <a:lumMod val="50000"/>
                        <a:alpha val="20000"/>
                      </a:schemeClr>
                    </a:solidFill>
                  </a:tcPr>
                </a:tc>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50000"/>
                        </a:lnSpc>
                        <a:spcBef>
                          <a:spcPts val="0"/>
                        </a:spcBef>
                        <a:spcAft>
                          <a:spcPts val="0"/>
                        </a:spcAft>
                        <a:buClrTx/>
                        <a:buSzTx/>
                        <a:buFontTx/>
                        <a:buNone/>
                        <a:tabLst/>
                        <a:defRPr/>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R. Singh, K. O'Brien, J. Nakamura</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Security vulnerability assessment of existing agricultural payment systems, followed by design and implementation of a multi-layered security framework. Includes penetration testing, encryption protocol evaluation, and user authentication mechanism testing across 20 platforms.</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Focuses heavily on technical security measures with less emphasis on social engineering vulnerabilities.</a:t>
                      </a:r>
                      <a:endParaRPr lang="en-IN" sz="1800" dirty="0" smtClean="0">
                        <a:effectLst/>
                        <a:latin typeface="Times New Roman" panose="02020603050405020304" pitchFamily="18" charset="0"/>
                        <a:ea typeface="Times New Roman" panose="02020603050405020304" pitchFamily="18" charset="0"/>
                      </a:endParaRPr>
                    </a:p>
                    <a:p>
                      <a:pPr algn="just">
                        <a:lnSpc>
                          <a:spcPct val="150000"/>
                        </a:lnSpc>
                        <a:spcAft>
                          <a:spcPts val="800"/>
                        </a:spcAft>
                        <a:tabLst>
                          <a:tab pos="5048250" algn="l"/>
                        </a:tabLst>
                      </a:pP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r>
            </a:tbl>
          </a:graphicData>
        </a:graphic>
      </p:graphicFrame>
    </p:spTree>
    <p:extLst>
      <p:ext uri="{BB962C8B-B14F-4D97-AF65-F5344CB8AC3E}">
        <p14:creationId xmlns:p14="http://schemas.microsoft.com/office/powerpoint/2010/main" xmlns="" val="182680842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Rectangle 5"/>
          <p:cNvSpPr/>
          <p:nvPr/>
        </p:nvSpPr>
        <p:spPr>
          <a:xfrm>
            <a:off x="4582493" y="258588"/>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SURVEY </a:t>
            </a:r>
            <a:r>
              <a:rPr lang="en-IN" b="1" dirty="0" smtClean="0">
                <a:latin typeface="Times New Roman" panose="02020603050405020304" pitchFamily="18" charset="0"/>
                <a:cs typeface="Times New Roman" panose="02020603050405020304" pitchFamily="18" charset="0"/>
              </a:rPr>
              <a:t>4</a:t>
            </a:r>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xmlns="" val="2888472314"/>
              </p:ext>
            </p:extLst>
          </p:nvPr>
        </p:nvGraphicFramePr>
        <p:xfrm>
          <a:off x="397326" y="706136"/>
          <a:ext cx="11227011" cy="5656007"/>
        </p:xfrm>
        <a:graphic>
          <a:graphicData uri="http://schemas.openxmlformats.org/drawingml/2006/table">
            <a:tbl>
              <a:tblPr firstRow="1" bandRow="1">
                <a:effectLst>
                  <a:outerShdw blurRad="50800" dist="38100" dir="5400000" algn="t" rotWithShape="0">
                    <a:prstClr val="black">
                      <a:alpha val="40000"/>
                    </a:prstClr>
                  </a:outerShdw>
                </a:effectLst>
                <a:tableStyleId>{BC89EF96-8CEA-46FF-86C4-4CE0E7609802}</a:tableStyleId>
              </a:tblPr>
              <a:tblGrid>
                <a:gridCol w="1658871"/>
                <a:gridCol w="785002"/>
                <a:gridCol w="1308388"/>
                <a:gridCol w="4213852"/>
                <a:gridCol w="3260898"/>
              </a:tblGrid>
              <a:tr h="656309">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800" dirty="0" smtClean="0">
                          <a:solidFill>
                            <a:schemeClr val="tx1"/>
                          </a:solidFill>
                          <a:latin typeface="Times New Roman" panose="02020603050405020304" pitchFamily="18" charset="0"/>
                          <a:cs typeface="Times New Roman" panose="02020603050405020304" pitchFamily="18" charset="0"/>
                        </a:rPr>
                        <a:t>Methodology</a:t>
                      </a:r>
                      <a:endParaRPr lang="en-IN" sz="1800"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Demerits</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r h="4741607">
                <a:tc>
                  <a:txBody>
                    <a:bodyPr/>
                    <a:lstStyle/>
                    <a:p>
                      <a:pPr>
                        <a:lnSpc>
                          <a:spcPct val="150000"/>
                        </a:lnSpc>
                      </a:pPr>
                      <a:r>
                        <a:rPr lang="en-US" sz="1800" dirty="0" smtClean="0">
                          <a:effectLst/>
                          <a:latin typeface="Times New Roman" panose="02020603050405020304" pitchFamily="18" charset="0"/>
                          <a:ea typeface="Times New Roman" panose="02020603050405020304" pitchFamily="18" charset="0"/>
                        </a:rPr>
                        <a:t>Mobile-First Design for Rural User Engagement</a:t>
                      </a:r>
                      <a:endParaRPr lang="en-US" b="0" dirty="0">
                        <a:effectLst/>
                      </a:endParaRPr>
                    </a:p>
                  </a:txBody>
                  <a:tcPr marL="95250" marR="95250" marT="95250" marB="95250" anchor="ctr">
                    <a:solidFill>
                      <a:schemeClr val="accent1">
                        <a:lumMod val="50000"/>
                        <a:alpha val="20000"/>
                      </a:schemeClr>
                    </a:solidFill>
                  </a:tcPr>
                </a:tc>
                <a:tc>
                  <a:txBody>
                    <a:bodyPr/>
                    <a:lstStyle/>
                    <a:p>
                      <a:r>
                        <a:rPr lang="en-US" dirty="0" smtClean="0">
                          <a:effectLst/>
                          <a:latin typeface="Times New Roman" panose="02020603050405020304" pitchFamily="18" charset="0"/>
                          <a:cs typeface="Times New Roman" panose="02020603050405020304" pitchFamily="18" charset="0"/>
                        </a:rPr>
                        <a:t>2023</a:t>
                      </a:r>
                      <a:endParaRPr lang="en-IN" dirty="0">
                        <a:effectLst/>
                        <a:latin typeface="Times New Roman" panose="02020603050405020304" pitchFamily="18" charset="0"/>
                        <a:cs typeface="Times New Roman" panose="02020603050405020304" pitchFamily="18" charset="0"/>
                      </a:endParaRPr>
                    </a:p>
                  </a:txBody>
                  <a:tcPr marL="95250" marR="95250" marT="95250" marB="95250" anchor="ctr">
                    <a:solidFill>
                      <a:schemeClr val="accent1">
                        <a:lumMod val="50000"/>
                        <a:alpha val="20000"/>
                      </a:schemeClr>
                    </a:solidFill>
                  </a:tcPr>
                </a:tc>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p>
                    <a:p>
                      <a:pPr marL="0" marR="0" lvl="0" indent="0" algn="just" defTabSz="914400" rtl="0" eaLnBrk="1" fontAlgn="auto" latinLnBrk="0" hangingPunct="1">
                        <a:lnSpc>
                          <a:spcPct val="150000"/>
                        </a:lnSpc>
                        <a:spcBef>
                          <a:spcPts val="0"/>
                        </a:spcBef>
                        <a:spcAft>
                          <a:spcPts val="0"/>
                        </a:spcAft>
                        <a:buClrTx/>
                        <a:buSzTx/>
                        <a:buFontTx/>
                        <a:buNone/>
                        <a:tabLst/>
                        <a:defRPr/>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Z. Abdullah, R. O'Connor, H. Lim</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User-centered design study with 200 rural farmers across developing regions, testing interface prototypes with varying complexity levels. Measures task completion rates, error frequencies, and satisfaction scores across different demographic segments and digital literacy levels.</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Cultural and linguistic variations in icon interpretation may limit universal applicability.</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r>
            </a:tbl>
          </a:graphicData>
        </a:graphic>
      </p:graphicFrame>
    </p:spTree>
    <p:extLst>
      <p:ext uri="{BB962C8B-B14F-4D97-AF65-F5344CB8AC3E}">
        <p14:creationId xmlns:p14="http://schemas.microsoft.com/office/powerpoint/2010/main" xmlns="" val="36624430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Rectangle 5"/>
          <p:cNvSpPr/>
          <p:nvPr/>
        </p:nvSpPr>
        <p:spPr>
          <a:xfrm>
            <a:off x="4582493" y="258588"/>
            <a:ext cx="2856679"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LITERATURE SURVEY </a:t>
            </a:r>
            <a:r>
              <a:rPr lang="en-IN" b="1" dirty="0" smtClean="0">
                <a:latin typeface="Times New Roman" panose="02020603050405020304" pitchFamily="18" charset="0"/>
                <a:cs typeface="Times New Roman" panose="02020603050405020304" pitchFamily="18" charset="0"/>
              </a:rPr>
              <a:t>5</a:t>
            </a:r>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xmlns="" val="3029284439"/>
              </p:ext>
            </p:extLst>
          </p:nvPr>
        </p:nvGraphicFramePr>
        <p:xfrm>
          <a:off x="397326" y="706136"/>
          <a:ext cx="11227011" cy="5656007"/>
        </p:xfrm>
        <a:graphic>
          <a:graphicData uri="http://schemas.openxmlformats.org/drawingml/2006/table">
            <a:tbl>
              <a:tblPr firstRow="1" bandRow="1">
                <a:effectLst>
                  <a:outerShdw blurRad="50800" dist="38100" dir="5400000" algn="t" rotWithShape="0">
                    <a:prstClr val="black">
                      <a:alpha val="40000"/>
                    </a:prstClr>
                  </a:outerShdw>
                </a:effectLst>
                <a:tableStyleId>{BC89EF96-8CEA-46FF-86C4-4CE0E7609802}</a:tableStyleId>
              </a:tblPr>
              <a:tblGrid>
                <a:gridCol w="1658871"/>
                <a:gridCol w="785002"/>
                <a:gridCol w="1308388"/>
                <a:gridCol w="4213852"/>
                <a:gridCol w="3260898"/>
              </a:tblGrid>
              <a:tr h="656309">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Author</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800" dirty="0" smtClean="0">
                          <a:solidFill>
                            <a:schemeClr val="tx1"/>
                          </a:solidFill>
                          <a:latin typeface="Times New Roman" panose="02020603050405020304" pitchFamily="18" charset="0"/>
                          <a:cs typeface="Times New Roman" panose="02020603050405020304" pitchFamily="18" charset="0"/>
                        </a:rPr>
                        <a:t>Methodology</a:t>
                      </a:r>
                      <a:endParaRPr lang="en-IN" sz="1800"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c>
                  <a:txBody>
                    <a:bodyPr/>
                    <a:lstStyle/>
                    <a:p>
                      <a:pPr algn="ctr">
                        <a:lnSpc>
                          <a:spcPct val="150000"/>
                        </a:lnSpc>
                      </a:pPr>
                      <a:r>
                        <a:rPr lang="en-US" dirty="0" smtClean="0">
                          <a:latin typeface="Times New Roman" panose="02020603050405020304" pitchFamily="18" charset="0"/>
                          <a:cs typeface="Times New Roman" panose="02020603050405020304" pitchFamily="18" charset="0"/>
                        </a:rPr>
                        <a:t>Demerits</a:t>
                      </a:r>
                      <a:endParaRPr lang="en-IN" dirty="0">
                        <a:latin typeface="Times New Roman" panose="02020603050405020304" pitchFamily="18" charset="0"/>
                        <a:cs typeface="Times New Roman" panose="02020603050405020304" pitchFamily="18" charset="0"/>
                      </a:endParaRPr>
                    </a:p>
                  </a:txBody>
                  <a:tcPr>
                    <a:solidFill>
                      <a:schemeClr val="tx2">
                        <a:lumMod val="20000"/>
                        <a:lumOff val="80000"/>
                      </a:schemeClr>
                    </a:solidFill>
                  </a:tcPr>
                </a:tc>
              </a:tr>
              <a:tr h="4741607">
                <a:tc>
                  <a:txBody>
                    <a:bodyPr/>
                    <a:lstStyle/>
                    <a:p>
                      <a:pPr algn="l">
                        <a:lnSpc>
                          <a:spcPct val="150000"/>
                        </a:lnSpc>
                      </a:pPr>
                      <a:r>
                        <a:rPr lang="en-US" sz="1800" dirty="0" err="1" smtClean="0">
                          <a:effectLst/>
                          <a:latin typeface="Times New Roman" panose="02020603050405020304" pitchFamily="18" charset="0"/>
                          <a:ea typeface="Times New Roman" panose="02020603050405020304" pitchFamily="18" charset="0"/>
                        </a:rPr>
                        <a:t>Blockchain</a:t>
                      </a:r>
                      <a:r>
                        <a:rPr lang="en-US" sz="1800" dirty="0" smtClean="0">
                          <a:effectLst/>
                          <a:latin typeface="Times New Roman" panose="02020603050405020304" pitchFamily="18" charset="0"/>
                          <a:ea typeface="Times New Roman" panose="02020603050405020304" pitchFamily="18" charset="0"/>
                        </a:rPr>
                        <a:t> Implementation for Agricultural Supply Chain Transparency</a:t>
                      </a:r>
                      <a:endParaRPr lang="en-IN" b="0" dirty="0">
                        <a:effectLst/>
                      </a:endParaRPr>
                    </a:p>
                  </a:txBody>
                  <a:tcPr marL="95250" marR="95250" marT="95250" marB="95250" anchor="ctr">
                    <a:solidFill>
                      <a:schemeClr val="accent1">
                        <a:lumMod val="50000"/>
                        <a:alpha val="20000"/>
                      </a:schemeClr>
                    </a:solidFill>
                  </a:tcPr>
                </a:tc>
                <a:tc>
                  <a:txBody>
                    <a:bodyPr/>
                    <a:lstStyle/>
                    <a:p>
                      <a:r>
                        <a:rPr lang="en-US" dirty="0" smtClean="0">
                          <a:effectLst/>
                          <a:latin typeface="Times New Roman" panose="02020603050405020304" pitchFamily="18" charset="0"/>
                          <a:cs typeface="Times New Roman" panose="02020603050405020304" pitchFamily="18" charset="0"/>
                        </a:rPr>
                        <a:t>2025</a:t>
                      </a:r>
                      <a:endParaRPr lang="en-IN" dirty="0">
                        <a:effectLst/>
                        <a:latin typeface="Times New Roman" panose="02020603050405020304" pitchFamily="18" charset="0"/>
                        <a:cs typeface="Times New Roman" panose="02020603050405020304" pitchFamily="18" charset="0"/>
                      </a:endParaRPr>
                    </a:p>
                  </a:txBody>
                  <a:tcPr marL="95250" marR="95250" marT="95250" marB="95250" anchor="ctr">
                    <a:solidFill>
                      <a:schemeClr val="accent1">
                        <a:lumMod val="50000"/>
                        <a:alpha val="20000"/>
                      </a:schemeClr>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IN" sz="1800" kern="1200" dirty="0" smtClean="0">
                          <a:solidFill>
                            <a:schemeClr val="tx1"/>
                          </a:solidFill>
                          <a:effectLst/>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P. Rossi, W. Zhang, A. Brooks</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Pilot implementation of </a:t>
                      </a:r>
                      <a:r>
                        <a:rPr lang="en-US" sz="1800" dirty="0" err="1" smtClean="0">
                          <a:effectLst/>
                          <a:latin typeface="Times New Roman" panose="02020603050405020304" pitchFamily="18" charset="0"/>
                          <a:ea typeface="Times New Roman" panose="02020603050405020304" pitchFamily="18" charset="0"/>
                        </a:rPr>
                        <a:t>blockchain</a:t>
                      </a:r>
                      <a:r>
                        <a:rPr lang="en-US" sz="1800" dirty="0" smtClean="0">
                          <a:effectLst/>
                          <a:latin typeface="Times New Roman" panose="02020603050405020304" pitchFamily="18" charset="0"/>
                          <a:ea typeface="Times New Roman" panose="02020603050405020304" pitchFamily="18" charset="0"/>
                        </a:rPr>
                        <a:t> technology across three agricultural supply chains, tracking produce from farm to consumer. Measures data integrity, system performance, user adoption rates, and cost-effectiveness compared to traditional tracking methods.</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c>
                  <a:txBody>
                    <a:bodyPr/>
                    <a:lstStyle/>
                    <a:p>
                      <a:pPr algn="just">
                        <a:lnSpc>
                          <a:spcPct val="150000"/>
                        </a:lnSpc>
                        <a:spcAft>
                          <a:spcPts val="0"/>
                        </a:spcAft>
                        <a:tabLst>
                          <a:tab pos="5048250" algn="l"/>
                        </a:tabLst>
                      </a:pPr>
                      <a:r>
                        <a:rPr lang="en-US" sz="1800" dirty="0" smtClean="0">
                          <a:effectLst/>
                          <a:latin typeface="Times New Roman" panose="02020603050405020304" pitchFamily="18" charset="0"/>
                          <a:ea typeface="Times New Roman" panose="02020603050405020304" pitchFamily="18" charset="0"/>
                        </a:rPr>
                        <a:t>High computational requirements and energy consumption may be prohibitive for small-scale operations.</a:t>
                      </a:r>
                      <a:endParaRPr lang="en-IN" sz="1100" dirty="0">
                        <a:effectLst/>
                        <a:latin typeface="Times New Roman" panose="02020603050405020304" pitchFamily="18" charset="0"/>
                        <a:ea typeface="Times New Roman" panose="02020603050405020304" pitchFamily="18" charset="0"/>
                      </a:endParaRPr>
                    </a:p>
                  </a:txBody>
                  <a:tcPr>
                    <a:solidFill>
                      <a:schemeClr val="accent1">
                        <a:lumMod val="50000"/>
                        <a:alpha val="20000"/>
                      </a:schemeClr>
                    </a:solidFill>
                  </a:tcPr>
                </a:tc>
              </a:tr>
            </a:tbl>
          </a:graphicData>
        </a:graphic>
      </p:graphicFrame>
    </p:spTree>
    <p:extLst>
      <p:ext uri="{BB962C8B-B14F-4D97-AF65-F5344CB8AC3E}">
        <p14:creationId xmlns:p14="http://schemas.microsoft.com/office/powerpoint/2010/main" xmlns="" val="16992335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791840" y="867425"/>
            <a:ext cx="5455340" cy="584775"/>
          </a:xfrm>
          <a:prstGeom prst="rect">
            <a:avLst/>
          </a:prstGeom>
        </p:spPr>
        <p:txBody>
          <a:bodyPr wrap="none">
            <a:spAutoFit/>
          </a:bodyPr>
          <a:lstStyle/>
          <a:p>
            <a:r>
              <a:rPr lang="en-US" sz="3200" b="1" dirty="0">
                <a:latin typeface="Times New Roman" panose="02020603050405020304" pitchFamily="18" charset="0"/>
                <a:cs typeface="Times New Roman" panose="02020603050405020304" pitchFamily="18" charset="0"/>
              </a:rPr>
              <a:t>SYSTEM REQUIREMENTS </a:t>
            </a:r>
            <a:endParaRPr lang="en-IN" sz="3200" dirty="0"/>
          </a:p>
        </p:txBody>
      </p:sp>
      <p:sp>
        <p:nvSpPr>
          <p:cNvPr id="4" name="Content Placeholder 2"/>
          <p:cNvSpPr txBox="1">
            <a:spLocks/>
          </p:cNvSpPr>
          <p:nvPr/>
        </p:nvSpPr>
        <p:spPr>
          <a:xfrm>
            <a:off x="877636" y="1693348"/>
            <a:ext cx="10515600" cy="44958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200000"/>
              </a:lnSpc>
              <a:buFont typeface="Arial" panose="020B0604020202020204" pitchFamily="34" charset="0"/>
              <a:buNone/>
            </a:pPr>
            <a:r>
              <a:rPr lang="en-IN" sz="2000" b="1" u="sng" dirty="0" smtClean="0">
                <a:latin typeface="Times New Roman" panose="02020603050405020304" pitchFamily="18" charset="0"/>
                <a:cs typeface="Times New Roman" panose="02020603050405020304" pitchFamily="18" charset="0"/>
              </a:rPr>
              <a:t>SOFTWARE REQUIREMENTS</a:t>
            </a:r>
            <a:endParaRPr lang="en-IN" sz="1800" u="sng"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O/S                  :  Windows  10</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Language</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Java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Database	: </a:t>
            </a:r>
            <a:r>
              <a:rPr lang="en-IN" sz="2000" dirty="0" err="1" smtClean="0">
                <a:latin typeface="Times New Roman" panose="02020603050405020304" pitchFamily="18" charset="0"/>
                <a:cs typeface="Times New Roman" panose="02020603050405020304" pitchFamily="18" charset="0"/>
              </a:rPr>
              <a:t>MySql</a:t>
            </a:r>
            <a:r>
              <a:rPr lang="en-IN" sz="2000" dirty="0" smtClean="0">
                <a:latin typeface="Times New Roman" panose="02020603050405020304" pitchFamily="18" charset="0"/>
                <a:cs typeface="Times New Roman" panose="02020603050405020304" pitchFamily="18" charset="0"/>
              </a:rPr>
              <a:t> (Local)</a:t>
            </a:r>
          </a:p>
          <a:p>
            <a:pPr algn="just">
              <a:lnSpc>
                <a:spcPct val="150000"/>
              </a:lnSpc>
            </a:pPr>
            <a:r>
              <a:rPr lang="en-US" sz="2000" dirty="0" smtClean="0">
                <a:latin typeface="Times New Roman" panose="02020603050405020304" pitchFamily="18" charset="0"/>
                <a:cs typeface="Times New Roman" panose="02020603050405020304" pitchFamily="18" charset="0"/>
              </a:rPr>
              <a:t>Software Used	: Visual Studio Code</a:t>
            </a:r>
            <a:endParaRPr lang="en-IN" sz="20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2000"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6519510" y="1693348"/>
            <a:ext cx="4566097" cy="4495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200000"/>
              </a:lnSpc>
              <a:buFont typeface="Arial" panose="020B0604020202020204" pitchFamily="34" charset="0"/>
              <a:buNone/>
            </a:pPr>
            <a:r>
              <a:rPr lang="en-IN" sz="2000" b="1" u="sng" dirty="0" smtClean="0">
                <a:latin typeface="Times New Roman" panose="02020603050405020304" pitchFamily="18" charset="0"/>
                <a:cs typeface="Times New Roman" panose="02020603050405020304" pitchFamily="18" charset="0"/>
              </a:rPr>
              <a:t>HARDWARE REQUIREMENTS</a:t>
            </a:r>
            <a:endParaRPr lang="en-IN" sz="2000" u="sng" dirty="0" smtClean="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System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Pentium IV 2.4 GHz </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Hard Disk     </a:t>
            </a:r>
            <a:r>
              <a:rPr lang="en-US" sz="2000" dirty="0" smtClean="0">
                <a:latin typeface="Times New Roman" panose="02020603050405020304" pitchFamily="18" charset="0"/>
                <a:cs typeface="Times New Roman" panose="02020603050405020304" pitchFamily="18" charset="0"/>
              </a:rPr>
              <a:t>       :   800 GB</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Mouse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Logitech.</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Keyboard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110 keys enhanced</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Ram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8GB</a:t>
            </a:r>
            <a:endParaRPr lang="en-IN" sz="2000" dirty="0">
              <a:latin typeface="Times New Roman" panose="02020603050405020304" pitchFamily="18" charset="0"/>
              <a:cs typeface="Times New Roman" panose="02020603050405020304" pitchFamily="18" charset="0"/>
            </a:endParaRPr>
          </a:p>
          <a:p>
            <a:pPr algn="just">
              <a:lnSpc>
                <a:spcPct val="200000"/>
              </a:lnSpc>
              <a:buFont typeface="Courier New" panose="02070309020205020404" pitchFamily="49" charset="0"/>
              <a:buChar char="o"/>
            </a:pPr>
            <a:endParaRPr lang="en-IN"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306136" y="265205"/>
            <a:ext cx="11658600" cy="6313016"/>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xmlns="" val="20725587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970485" y="488255"/>
            <a:ext cx="2260555" cy="584775"/>
          </a:xfrm>
          <a:prstGeom prst="rect">
            <a:avLst/>
          </a:prstGeom>
        </p:spPr>
        <p:txBody>
          <a:bodyPr wrap="none">
            <a:spAutoFit/>
          </a:bodyPr>
          <a:lstStyle/>
          <a:p>
            <a:r>
              <a:rPr lang="en-US" sz="3200" b="1" dirty="0" smtClean="0">
                <a:latin typeface="Times New Roman" panose="02020603050405020304" pitchFamily="18" charset="0"/>
                <a:cs typeface="Times New Roman" panose="02020603050405020304" pitchFamily="18" charset="0"/>
              </a:rPr>
              <a:t>MODULES</a:t>
            </a:r>
            <a:endParaRPr lang="en-IN" sz="3200" dirty="0"/>
          </a:p>
        </p:txBody>
      </p:sp>
      <p:sp>
        <p:nvSpPr>
          <p:cNvPr id="4" name="Rectangle 3"/>
          <p:cNvSpPr/>
          <p:nvPr/>
        </p:nvSpPr>
        <p:spPr>
          <a:xfrm>
            <a:off x="2300437" y="2650885"/>
            <a:ext cx="6096000" cy="1200329"/>
          </a:xfrm>
          <a:prstGeom prst="rect">
            <a:avLst/>
          </a:prstGeom>
        </p:spPr>
        <p:txBody>
          <a:bodyPr>
            <a:spAutoFit/>
          </a:bodyPr>
          <a:lstStyle/>
          <a:p>
            <a:pPr marL="285750" indent="-285750">
              <a:lnSpc>
                <a:spcPct val="2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Farmer</a:t>
            </a:r>
            <a:endParaRPr lang="en-US" dirty="0">
              <a:latin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Consumer or Customer</a:t>
            </a:r>
          </a:p>
        </p:txBody>
      </p:sp>
    </p:spTree>
    <p:extLst>
      <p:ext uri="{BB962C8B-B14F-4D97-AF65-F5344CB8AC3E}">
        <p14:creationId xmlns:p14="http://schemas.microsoft.com/office/powerpoint/2010/main" xmlns="" val="33355610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1236373" y="730675"/>
            <a:ext cx="10019762" cy="5339923"/>
          </a:xfrm>
          <a:prstGeom prst="rect">
            <a:avLst/>
          </a:prstGeom>
        </p:spPr>
        <p:txBody>
          <a:bodyPr wrap="square">
            <a:spAutoFit/>
          </a:bodyPr>
          <a:lstStyle/>
          <a:p>
            <a:pPr algn="ctr">
              <a:lnSpc>
                <a:spcPct val="150000"/>
              </a:lnSpc>
              <a:spcAft>
                <a:spcPts val="800"/>
              </a:spcAft>
            </a:pPr>
            <a:r>
              <a:rPr lang="en-GB" sz="2400" b="1" dirty="0" smtClean="0">
                <a:latin typeface="Times New Roman" panose="02020603050405020304" pitchFamily="18" charset="0"/>
                <a:cs typeface="Times New Roman" panose="02020603050405020304" pitchFamily="18" charset="0"/>
              </a:rPr>
              <a:t>FARMER</a:t>
            </a:r>
            <a:endParaRPr lang="en-GB" b="1" dirty="0" smtClean="0">
              <a:latin typeface="Times New Roman" panose="02020603050405020304" pitchFamily="18" charset="0"/>
              <a:cs typeface="Times New Roman" panose="02020603050405020304" pitchFamily="18" charset="0"/>
            </a:endParaRPr>
          </a:p>
          <a:p>
            <a:pPr algn="just">
              <a:lnSpc>
                <a:spcPct val="150000"/>
              </a:lnSpc>
              <a:spcAft>
                <a:spcPts val="800"/>
              </a:spcAft>
            </a:pPr>
            <a:endParaRPr lang="en-GB" dirty="0">
              <a:latin typeface="Times New Roman" panose="02020603050405020304" pitchFamily="18" charset="0"/>
              <a:cs typeface="Times New Roman" panose="02020603050405020304" pitchFamily="18" charset="0"/>
            </a:endParaRPr>
          </a:p>
          <a:p>
            <a:pPr marL="285750" indent="-285750" algn="just">
              <a:spcAft>
                <a:spcPts val="800"/>
              </a:spcAf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Add Product: List produce with details, images, pricing</a:t>
            </a:r>
          </a:p>
          <a:p>
            <a:pPr marL="285750" indent="-285750" algn="just">
              <a:spcAft>
                <a:spcPts val="800"/>
              </a:spcAft>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spcAft>
                <a:spcPts val="800"/>
              </a:spcAf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Stock Management: Real-time inventory tracking &amp; updates</a:t>
            </a:r>
          </a:p>
          <a:p>
            <a:pPr marL="285750" indent="-285750" algn="just">
              <a:spcAft>
                <a:spcPts val="800"/>
              </a:spcAft>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spcAft>
                <a:spcPts val="800"/>
              </a:spcAf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Order Management: View, process, and track customer orders</a:t>
            </a:r>
          </a:p>
          <a:p>
            <a:pPr marL="285750" indent="-285750" algn="just">
              <a:spcAft>
                <a:spcPts val="800"/>
              </a:spcAft>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spcAft>
                <a:spcPts val="800"/>
              </a:spcAf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Profile Management: Farm details, contact information</a:t>
            </a:r>
          </a:p>
          <a:p>
            <a:pPr marL="285750" indent="-285750" algn="just">
              <a:spcAft>
                <a:spcPts val="800"/>
              </a:spcAft>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spcAft>
                <a:spcPts val="800"/>
              </a:spcAf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Sales Dashboard: Performance analytics and insights</a:t>
            </a:r>
          </a:p>
          <a:p>
            <a:pPr marL="285750" indent="-285750" algn="just">
              <a:spcAft>
                <a:spcPts val="800"/>
              </a:spcAft>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spcAft>
                <a:spcPts val="800"/>
              </a:spcAf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Communication </a:t>
            </a:r>
            <a:r>
              <a:rPr lang="en-GB" dirty="0" err="1">
                <a:latin typeface="Times New Roman" panose="02020603050405020304" pitchFamily="18" charset="0"/>
                <a:cs typeface="Times New Roman" panose="02020603050405020304" pitchFamily="18" charset="0"/>
              </a:rPr>
              <a:t>Center</a:t>
            </a:r>
            <a:r>
              <a:rPr lang="en-GB" dirty="0">
                <a:latin typeface="Times New Roman" panose="02020603050405020304" pitchFamily="18" charset="0"/>
                <a:cs typeface="Times New Roman" panose="02020603050405020304" pitchFamily="18" charset="0"/>
              </a:rPr>
              <a:t>: Direct messaging with customers</a:t>
            </a:r>
            <a:endParaRPr lang="en-IN" dirty="0" smtClean="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31500420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1013608" y="886728"/>
            <a:ext cx="10174310" cy="5581015"/>
          </a:xfrm>
          <a:prstGeom prst="rect">
            <a:avLst/>
          </a:prstGeom>
        </p:spPr>
        <p:txBody>
          <a:bodyPr wrap="square">
            <a:spAutoFit/>
          </a:bodyPr>
          <a:lstStyle/>
          <a:p>
            <a:pPr algn="ctr">
              <a:lnSpc>
                <a:spcPct val="150000"/>
              </a:lnSpc>
              <a:spcAft>
                <a:spcPts val="800"/>
              </a:spcAft>
            </a:pPr>
            <a:r>
              <a:rPr lang="en-GB" sz="2400" b="1" dirty="0" smtClean="0">
                <a:latin typeface="Times New Roman" panose="02020603050405020304" pitchFamily="18" charset="0"/>
                <a:cs typeface="Times New Roman" panose="02020603050405020304" pitchFamily="18" charset="0"/>
              </a:rPr>
              <a:t>CONSUMER</a:t>
            </a:r>
            <a:endParaRPr lang="en-GB" b="1" dirty="0">
              <a:latin typeface="Times New Roman" panose="02020603050405020304" pitchFamily="18" charset="0"/>
              <a:cs typeface="Times New Roman" panose="02020603050405020304" pitchFamily="18" charset="0"/>
            </a:endParaRPr>
          </a:p>
          <a:p>
            <a:pPr algn="just">
              <a:spcAft>
                <a:spcPts val="800"/>
              </a:spcAft>
            </a:pPr>
            <a:r>
              <a:rPr lang="en-GB" dirty="0">
                <a:latin typeface="Times New Roman" panose="02020603050405020304" pitchFamily="18" charset="0"/>
                <a:cs typeface="Times New Roman" panose="02020603050405020304" pitchFamily="18" charset="0"/>
              </a:rPr>
              <a:t>Marketplace: Browse and search farm products</a:t>
            </a:r>
          </a:p>
          <a:p>
            <a:pPr algn="just">
              <a:spcAft>
                <a:spcPts val="800"/>
              </a:spcAft>
            </a:pPr>
            <a:endParaRPr lang="en-GB" dirty="0">
              <a:latin typeface="Times New Roman" panose="02020603050405020304" pitchFamily="18" charset="0"/>
              <a:cs typeface="Times New Roman" panose="02020603050405020304" pitchFamily="18" charset="0"/>
            </a:endParaRPr>
          </a:p>
          <a:p>
            <a:pPr algn="just">
              <a:spcAft>
                <a:spcPts val="800"/>
              </a:spcAft>
            </a:pPr>
            <a:r>
              <a:rPr lang="en-GB" dirty="0">
                <a:latin typeface="Times New Roman" panose="02020603050405020304" pitchFamily="18" charset="0"/>
                <a:cs typeface="Times New Roman" panose="02020603050405020304" pitchFamily="18" charset="0"/>
              </a:rPr>
              <a:t>Shopping Cart: Add/remove items, calculate totals</a:t>
            </a:r>
          </a:p>
          <a:p>
            <a:pPr algn="just">
              <a:spcAft>
                <a:spcPts val="800"/>
              </a:spcAft>
            </a:pPr>
            <a:endParaRPr lang="en-GB" dirty="0">
              <a:latin typeface="Times New Roman" panose="02020603050405020304" pitchFamily="18" charset="0"/>
              <a:cs typeface="Times New Roman" panose="02020603050405020304" pitchFamily="18" charset="0"/>
            </a:endParaRPr>
          </a:p>
          <a:p>
            <a:pPr algn="just">
              <a:spcAft>
                <a:spcPts val="800"/>
              </a:spcAft>
            </a:pPr>
            <a:r>
              <a:rPr lang="en-GB" dirty="0">
                <a:latin typeface="Times New Roman" panose="02020603050405020304" pitchFamily="18" charset="0"/>
                <a:cs typeface="Times New Roman" panose="02020603050405020304" pitchFamily="18" charset="0"/>
              </a:rPr>
              <a:t>Order Management: Track purchases and delivery status</a:t>
            </a:r>
          </a:p>
          <a:p>
            <a:pPr algn="just">
              <a:spcAft>
                <a:spcPts val="800"/>
              </a:spcAft>
            </a:pPr>
            <a:endParaRPr lang="en-GB" dirty="0">
              <a:latin typeface="Times New Roman" panose="02020603050405020304" pitchFamily="18" charset="0"/>
              <a:cs typeface="Times New Roman" panose="02020603050405020304" pitchFamily="18" charset="0"/>
            </a:endParaRPr>
          </a:p>
          <a:p>
            <a:pPr algn="just">
              <a:spcAft>
                <a:spcPts val="800"/>
              </a:spcAft>
            </a:pPr>
            <a:r>
              <a:rPr lang="en-GB" dirty="0" err="1">
                <a:latin typeface="Times New Roman" panose="02020603050405020304" pitchFamily="18" charset="0"/>
                <a:cs typeface="Times New Roman" panose="02020603050405020304" pitchFamily="18" charset="0"/>
              </a:rPr>
              <a:t>Favorites</a:t>
            </a:r>
            <a:r>
              <a:rPr lang="en-GB" dirty="0">
                <a:latin typeface="Times New Roman" panose="02020603050405020304" pitchFamily="18" charset="0"/>
                <a:cs typeface="Times New Roman" panose="02020603050405020304" pitchFamily="18" charset="0"/>
              </a:rPr>
              <a:t> List: Save preferred products</a:t>
            </a:r>
          </a:p>
          <a:p>
            <a:pPr algn="just">
              <a:spcAft>
                <a:spcPts val="800"/>
              </a:spcAft>
            </a:pPr>
            <a:endParaRPr lang="en-GB" dirty="0">
              <a:latin typeface="Times New Roman" panose="02020603050405020304" pitchFamily="18" charset="0"/>
              <a:cs typeface="Times New Roman" panose="02020603050405020304" pitchFamily="18" charset="0"/>
            </a:endParaRPr>
          </a:p>
          <a:p>
            <a:pPr algn="just">
              <a:spcAft>
                <a:spcPts val="800"/>
              </a:spcAft>
            </a:pPr>
            <a:r>
              <a:rPr lang="en-GB" dirty="0">
                <a:latin typeface="Times New Roman" panose="02020603050405020304" pitchFamily="18" charset="0"/>
                <a:cs typeface="Times New Roman" panose="02020603050405020304" pitchFamily="18" charset="0"/>
              </a:rPr>
              <a:t>Review System: Rate products and farmers</a:t>
            </a:r>
          </a:p>
          <a:p>
            <a:pPr algn="just">
              <a:spcAft>
                <a:spcPts val="800"/>
              </a:spcAft>
            </a:pPr>
            <a:endParaRPr lang="en-GB" dirty="0">
              <a:latin typeface="Times New Roman" panose="02020603050405020304" pitchFamily="18" charset="0"/>
              <a:cs typeface="Times New Roman" panose="02020603050405020304" pitchFamily="18" charset="0"/>
            </a:endParaRPr>
          </a:p>
          <a:p>
            <a:pPr algn="just">
              <a:spcAft>
                <a:spcPts val="800"/>
              </a:spcAft>
            </a:pPr>
            <a:r>
              <a:rPr lang="en-GB" dirty="0">
                <a:latin typeface="Times New Roman" panose="02020603050405020304" pitchFamily="18" charset="0"/>
                <a:cs typeface="Times New Roman" panose="02020603050405020304" pitchFamily="18" charset="0"/>
              </a:rPr>
              <a:t>Profile Management: Delivery addresses, preferences</a:t>
            </a:r>
          </a:p>
          <a:p>
            <a:pPr algn="just">
              <a:spcAft>
                <a:spcPts val="800"/>
              </a:spcAft>
            </a:pPr>
            <a:endParaRPr lang="en-GB" dirty="0">
              <a:latin typeface="Times New Roman" panose="02020603050405020304" pitchFamily="18" charset="0"/>
              <a:cs typeface="Times New Roman" panose="02020603050405020304" pitchFamily="18" charset="0"/>
            </a:endParaRPr>
          </a:p>
          <a:p>
            <a:pPr algn="just">
              <a:spcAft>
                <a:spcPts val="800"/>
              </a:spcAft>
            </a:pPr>
            <a:r>
              <a:rPr lang="en-GB" dirty="0">
                <a:latin typeface="Times New Roman" panose="02020603050405020304" pitchFamily="18" charset="0"/>
                <a:cs typeface="Times New Roman" panose="02020603050405020304" pitchFamily="18" charset="0"/>
              </a:rPr>
              <a:t>Direct Messaging: Communicate with farmers</a:t>
            </a:r>
            <a:endParaRPr lang="en-IN"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4575237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TextBox 3"/>
          <p:cNvSpPr txBox="1"/>
          <p:nvPr/>
        </p:nvSpPr>
        <p:spPr>
          <a:xfrm>
            <a:off x="4450080" y="542410"/>
            <a:ext cx="4108704" cy="584775"/>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           Login</a:t>
            </a:r>
            <a:endParaRPr lang="en-IN" sz="32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177125" y="1436602"/>
            <a:ext cx="3206314" cy="4883380"/>
          </a:xfrm>
          <a:prstGeom prst="rect">
            <a:avLst/>
          </a:prstGeom>
        </p:spPr>
      </p:pic>
    </p:spTree>
    <p:extLst>
      <p:ext uri="{BB962C8B-B14F-4D97-AF65-F5344CB8AC3E}">
        <p14:creationId xmlns:p14="http://schemas.microsoft.com/office/powerpoint/2010/main" xmlns="" val="18329588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TextBox 4"/>
          <p:cNvSpPr txBox="1"/>
          <p:nvPr/>
        </p:nvSpPr>
        <p:spPr>
          <a:xfrm>
            <a:off x="4858607" y="456068"/>
            <a:ext cx="3182112" cy="584775"/>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Register Page</a:t>
            </a:r>
            <a:endParaRPr lang="en-IN" sz="32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237559" y="1193562"/>
            <a:ext cx="3391540" cy="5283118"/>
          </a:xfrm>
          <a:prstGeom prst="rect">
            <a:avLst/>
          </a:prstGeom>
        </p:spPr>
      </p:pic>
    </p:spTree>
    <p:extLst>
      <p:ext uri="{BB962C8B-B14F-4D97-AF65-F5344CB8AC3E}">
        <p14:creationId xmlns:p14="http://schemas.microsoft.com/office/powerpoint/2010/main" xmlns="" val="16154773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TextBox 4"/>
          <p:cNvSpPr txBox="1"/>
          <p:nvPr/>
        </p:nvSpPr>
        <p:spPr>
          <a:xfrm>
            <a:off x="4291584" y="1347527"/>
            <a:ext cx="4535424" cy="584775"/>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Dashboard</a:t>
            </a:r>
            <a:endParaRPr lang="en-IN" sz="32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698886" y="495254"/>
            <a:ext cx="2353056" cy="584775"/>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Farmer</a:t>
            </a:r>
            <a:endParaRPr lang="en-IN" sz="32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14057" y="1932302"/>
            <a:ext cx="9522015" cy="4512266"/>
          </a:xfrm>
          <a:prstGeom prst="rect">
            <a:avLst/>
          </a:prstGeom>
        </p:spPr>
      </p:pic>
    </p:spTree>
    <p:extLst>
      <p:ext uri="{BB962C8B-B14F-4D97-AF65-F5344CB8AC3E}">
        <p14:creationId xmlns:p14="http://schemas.microsoft.com/office/powerpoint/2010/main" xmlns="" val="15687090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extBox 6"/>
          <p:cNvSpPr txBox="1"/>
          <p:nvPr/>
        </p:nvSpPr>
        <p:spPr>
          <a:xfrm>
            <a:off x="4280808" y="511380"/>
            <a:ext cx="3858274" cy="584775"/>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Add Product</a:t>
            </a:r>
            <a:endParaRPr lang="en-IN" sz="32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368614" y="1240460"/>
            <a:ext cx="9181105" cy="4860585"/>
          </a:xfrm>
          <a:prstGeom prst="rect">
            <a:avLst/>
          </a:prstGeom>
        </p:spPr>
      </p:pic>
    </p:spTree>
    <p:extLst>
      <p:ext uri="{BB962C8B-B14F-4D97-AF65-F5344CB8AC3E}">
        <p14:creationId xmlns:p14="http://schemas.microsoft.com/office/powerpoint/2010/main" xmlns="" val="341714498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 name="TextBox 3"/>
          <p:cNvSpPr txBox="1"/>
          <p:nvPr/>
        </p:nvSpPr>
        <p:spPr>
          <a:xfrm>
            <a:off x="4072127" y="998432"/>
            <a:ext cx="3730752" cy="1077218"/>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View Product</a:t>
            </a:r>
          </a:p>
          <a:p>
            <a:endParaRPr lang="en-IN" sz="32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19175" y="1721004"/>
            <a:ext cx="10163175" cy="4270363"/>
          </a:xfrm>
          <a:prstGeom prst="rect">
            <a:avLst/>
          </a:prstGeom>
        </p:spPr>
      </p:pic>
    </p:spTree>
    <p:extLst>
      <p:ext uri="{BB962C8B-B14F-4D97-AF65-F5344CB8AC3E}">
        <p14:creationId xmlns:p14="http://schemas.microsoft.com/office/powerpoint/2010/main" xmlns="" val="376228716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extBox 6"/>
          <p:cNvSpPr txBox="1"/>
          <p:nvPr/>
        </p:nvSpPr>
        <p:spPr>
          <a:xfrm>
            <a:off x="4306304" y="651756"/>
            <a:ext cx="3834575" cy="584775"/>
          </a:xfrm>
          <a:prstGeom prst="rect">
            <a:avLst/>
          </a:prstGeom>
          <a:noFill/>
        </p:spPr>
        <p:txBody>
          <a:bodyPr wrap="square" rtlCol="0">
            <a:spAutoFit/>
          </a:bodyPr>
          <a:lstStyle/>
          <a:p>
            <a:r>
              <a:rPr lang="en-GB" sz="3200" b="1" dirty="0" smtClean="0">
                <a:latin typeface="Times New Roman" panose="02020603050405020304" pitchFamily="18" charset="0"/>
                <a:cs typeface="Times New Roman" panose="02020603050405020304" pitchFamily="18" charset="0"/>
              </a:rPr>
              <a:t>View Orders</a:t>
            </a:r>
            <a:endParaRPr lang="en-IN" sz="32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19149" y="1645399"/>
            <a:ext cx="10563225" cy="4084591"/>
          </a:xfrm>
          <a:prstGeom prst="rect">
            <a:avLst/>
          </a:prstGeom>
        </p:spPr>
      </p:pic>
    </p:spTree>
    <p:extLst>
      <p:ext uri="{BB962C8B-B14F-4D97-AF65-F5344CB8AC3E}">
        <p14:creationId xmlns:p14="http://schemas.microsoft.com/office/powerpoint/2010/main" xmlns="" val="7753089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TextBox 4"/>
          <p:cNvSpPr txBox="1"/>
          <p:nvPr/>
        </p:nvSpPr>
        <p:spPr>
          <a:xfrm>
            <a:off x="4293298" y="990347"/>
            <a:ext cx="3614928" cy="584775"/>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Dashboard</a:t>
            </a:r>
            <a:endParaRPr lang="en-IN" sz="32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293298" y="353145"/>
            <a:ext cx="3614928" cy="584775"/>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Consumer</a:t>
            </a:r>
            <a:endParaRPr lang="en-IN" sz="32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160060" y="1895118"/>
            <a:ext cx="9939551" cy="4471475"/>
          </a:xfrm>
          <a:prstGeom prst="rect">
            <a:avLst/>
          </a:prstGeom>
        </p:spPr>
      </p:pic>
    </p:spTree>
    <p:extLst>
      <p:ext uri="{BB962C8B-B14F-4D97-AF65-F5344CB8AC3E}">
        <p14:creationId xmlns:p14="http://schemas.microsoft.com/office/powerpoint/2010/main" xmlns="" val="415114409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TextBox 5"/>
          <p:cNvSpPr txBox="1"/>
          <p:nvPr/>
        </p:nvSpPr>
        <p:spPr>
          <a:xfrm>
            <a:off x="4523101" y="791676"/>
            <a:ext cx="434644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Marketplace</a:t>
            </a:r>
            <a:endParaRPr lang="en-IN" sz="32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596787" y="1600852"/>
            <a:ext cx="8753759" cy="4675482"/>
          </a:xfrm>
          <a:prstGeom prst="rect">
            <a:avLst/>
          </a:prstGeom>
        </p:spPr>
      </p:pic>
    </p:spTree>
    <p:extLst>
      <p:ext uri="{BB962C8B-B14F-4D97-AF65-F5344CB8AC3E}">
        <p14:creationId xmlns:p14="http://schemas.microsoft.com/office/powerpoint/2010/main" xmlns="" val="57730469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TextBox 4"/>
          <p:cNvSpPr txBox="1"/>
          <p:nvPr/>
        </p:nvSpPr>
        <p:spPr>
          <a:xfrm>
            <a:off x="5562688" y="769898"/>
            <a:ext cx="3881562"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Favorites</a:t>
            </a:r>
            <a:endParaRPr lang="en-IN" sz="32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509624" y="1601917"/>
            <a:ext cx="6934626" cy="4599497"/>
          </a:xfrm>
          <a:prstGeom prst="rect">
            <a:avLst/>
          </a:prstGeom>
        </p:spPr>
      </p:pic>
    </p:spTree>
    <p:extLst>
      <p:ext uri="{BB962C8B-B14F-4D97-AF65-F5344CB8AC3E}">
        <p14:creationId xmlns:p14="http://schemas.microsoft.com/office/powerpoint/2010/main" xmlns="" val="24478103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TextBox 6"/>
          <p:cNvSpPr txBox="1"/>
          <p:nvPr/>
        </p:nvSpPr>
        <p:spPr>
          <a:xfrm>
            <a:off x="3902308" y="643987"/>
            <a:ext cx="340604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Cart</a:t>
            </a:r>
            <a:endParaRPr lang="en-IN" sz="32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925612" y="1518099"/>
            <a:ext cx="10350302" cy="4200312"/>
          </a:xfrm>
          <a:prstGeom prst="rect">
            <a:avLst/>
          </a:prstGeom>
        </p:spPr>
      </p:pic>
    </p:spTree>
    <p:extLst>
      <p:ext uri="{BB962C8B-B14F-4D97-AF65-F5344CB8AC3E}">
        <p14:creationId xmlns:p14="http://schemas.microsoft.com/office/powerpoint/2010/main" xmlns="" val="10677927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TextBox 5"/>
          <p:cNvSpPr txBox="1"/>
          <p:nvPr/>
        </p:nvSpPr>
        <p:spPr>
          <a:xfrm>
            <a:off x="5213445" y="573201"/>
            <a:ext cx="509596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Feedback</a:t>
            </a:r>
          </a:p>
        </p:txBody>
      </p:sp>
      <p:pic>
        <p:nvPicPr>
          <p:cNvPr id="4" name="Picture 3"/>
          <p:cNvPicPr>
            <a:picLocks noChangeAspect="1"/>
          </p:cNvPicPr>
          <p:nvPr/>
        </p:nvPicPr>
        <p:blipFill>
          <a:blip r:embed="rId2"/>
          <a:stretch>
            <a:fillRect/>
          </a:stretch>
        </p:blipFill>
        <p:spPr>
          <a:xfrm>
            <a:off x="3175273" y="1256277"/>
            <a:ext cx="5850979" cy="4960612"/>
          </a:xfrm>
          <a:prstGeom prst="rect">
            <a:avLst/>
          </a:prstGeom>
        </p:spPr>
      </p:pic>
    </p:spTree>
    <p:extLst>
      <p:ext uri="{BB962C8B-B14F-4D97-AF65-F5344CB8AC3E}">
        <p14:creationId xmlns:p14="http://schemas.microsoft.com/office/powerpoint/2010/main" xmlns="" val="166812637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TextBox 5"/>
          <p:cNvSpPr txBox="1"/>
          <p:nvPr/>
        </p:nvSpPr>
        <p:spPr>
          <a:xfrm>
            <a:off x="4490113" y="598200"/>
            <a:ext cx="5095968" cy="584775"/>
          </a:xfrm>
          <a:prstGeom prst="rect">
            <a:avLst/>
          </a:prstGeom>
          <a:noFill/>
        </p:spPr>
        <p:txBody>
          <a:bodyPr wrap="square" rtlCol="0">
            <a:spAutoFit/>
          </a:bodyPr>
          <a:lstStyle/>
          <a:p>
            <a:r>
              <a:rPr lang="en-US" sz="3200" b="1" dirty="0" smtClean="0">
                <a:latin typeface="Times New Roman" panose="02020603050405020304" pitchFamily="18" charset="0"/>
                <a:cs typeface="Times New Roman" panose="02020603050405020304" pitchFamily="18" charset="0"/>
              </a:rPr>
              <a:t>My Orders</a:t>
            </a:r>
            <a:endParaRPr lang="en-US" sz="32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871537" y="1538287"/>
            <a:ext cx="10448925" cy="3781425"/>
          </a:xfrm>
          <a:prstGeom prst="rect">
            <a:avLst/>
          </a:prstGeom>
        </p:spPr>
      </p:pic>
    </p:spTree>
    <p:extLst>
      <p:ext uri="{BB962C8B-B14F-4D97-AF65-F5344CB8AC3E}">
        <p14:creationId xmlns:p14="http://schemas.microsoft.com/office/powerpoint/2010/main" xmlns="" val="159411677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278147" y="642801"/>
            <a:ext cx="3070071" cy="584775"/>
          </a:xfrm>
          <a:prstGeom prst="rect">
            <a:avLst/>
          </a:prstGeom>
        </p:spPr>
        <p:txBody>
          <a:bodyPr wrap="none">
            <a:spAutoFit/>
          </a:bodyPr>
          <a:lstStyle/>
          <a:p>
            <a:r>
              <a:rPr lang="en-US" sz="3200" b="1" dirty="0" smtClean="0">
                <a:latin typeface="Times New Roman" panose="02020603050405020304" pitchFamily="18" charset="0"/>
                <a:cs typeface="Times New Roman" panose="02020603050405020304" pitchFamily="18" charset="0"/>
              </a:rPr>
              <a:t>CONCLUSION </a:t>
            </a:r>
            <a:endParaRPr lang="en-IN" sz="3200" dirty="0"/>
          </a:p>
        </p:txBody>
      </p:sp>
      <p:sp>
        <p:nvSpPr>
          <p:cNvPr id="4" name="Rectangle 3"/>
          <p:cNvSpPr/>
          <p:nvPr/>
        </p:nvSpPr>
        <p:spPr>
          <a:xfrm>
            <a:off x="975360" y="1627489"/>
            <a:ext cx="10302240" cy="4613058"/>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Successfully bridges farmer-consumer gap</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Eliminates intermediaries effectively</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Increases farmer income significantly</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Reduces consumer costs substantially</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Promotes sustainable agriculture</a:t>
            </a:r>
          </a:p>
          <a:p>
            <a:pPr marL="285750" indent="-285750" algn="just">
              <a:lnSpc>
                <a:spcPct val="150000"/>
              </a:lnSpc>
              <a:buFont typeface="Wingdings" panose="05000000000000000000" pitchFamily="2" charset="2"/>
              <a:buChar char="Ø"/>
            </a:pPr>
            <a:endParaRPr lang="en-GB"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Enhances supply chain transparency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61357017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188876" y="720394"/>
            <a:ext cx="5653086" cy="584775"/>
          </a:xfrm>
          <a:prstGeom prst="rect">
            <a:avLst/>
          </a:prstGeom>
        </p:spPr>
        <p:txBody>
          <a:bodyPr wrap="none">
            <a:spAutoFit/>
          </a:bodyPr>
          <a:lstStyle/>
          <a:p>
            <a:r>
              <a:rPr lang="en-US" sz="3200" b="1" dirty="0" smtClean="0">
                <a:latin typeface="Times New Roman" panose="02020603050405020304" pitchFamily="18" charset="0"/>
                <a:cs typeface="Times New Roman" panose="02020603050405020304" pitchFamily="18" charset="0"/>
              </a:rPr>
              <a:t>FUTURE ENCHANCEMENT </a:t>
            </a:r>
            <a:endParaRPr lang="en-IN" sz="3200" dirty="0"/>
          </a:p>
        </p:txBody>
      </p:sp>
      <p:sp>
        <p:nvSpPr>
          <p:cNvPr id="7" name="Rectangle 6"/>
          <p:cNvSpPr/>
          <p:nvPr/>
        </p:nvSpPr>
        <p:spPr>
          <a:xfrm>
            <a:off x="1246496" y="1470698"/>
            <a:ext cx="6096000" cy="4613058"/>
          </a:xfrm>
          <a:prstGeom prst="rect">
            <a:avLst/>
          </a:prstGeom>
        </p:spPr>
        <p:txBody>
          <a:bodyPr>
            <a:spAutoFit/>
          </a:bodyPr>
          <a:lstStyle/>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Mobile Applications: Android &amp; </a:t>
            </a:r>
            <a:r>
              <a:rPr lang="en-IN" dirty="0" err="1">
                <a:latin typeface="Times New Roman" panose="02020603050405020304" pitchFamily="18" charset="0"/>
                <a:cs typeface="Times New Roman" panose="02020603050405020304" pitchFamily="18" charset="0"/>
              </a:rPr>
              <a:t>iOS</a:t>
            </a:r>
            <a:r>
              <a:rPr lang="en-IN" dirty="0">
                <a:latin typeface="Times New Roman" panose="02020603050405020304" pitchFamily="18" charset="0"/>
                <a:cs typeface="Times New Roman" panose="02020603050405020304" pitchFamily="18" charset="0"/>
              </a:rPr>
              <a:t> native apps</a:t>
            </a:r>
          </a:p>
          <a:p>
            <a:pPr marL="285750" indent="-285750">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Payment Integration: UPI, wallets, cards integration</a:t>
            </a:r>
          </a:p>
          <a:p>
            <a:pPr marL="285750" indent="-285750">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dirty="0" err="1">
                <a:latin typeface="Times New Roman" panose="02020603050405020304" pitchFamily="18" charset="0"/>
                <a:cs typeface="Times New Roman" panose="02020603050405020304" pitchFamily="18" charset="0"/>
              </a:rPr>
              <a:t>Blockchain</a:t>
            </a:r>
            <a:r>
              <a:rPr lang="en-IN" dirty="0">
                <a:latin typeface="Times New Roman" panose="02020603050405020304" pitchFamily="18" charset="0"/>
                <a:cs typeface="Times New Roman" panose="02020603050405020304" pitchFamily="18" charset="0"/>
              </a:rPr>
              <a:t> Traceability: Immutable product journey tracking</a:t>
            </a:r>
          </a:p>
          <a:p>
            <a:pPr marL="285750" indent="-285750">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AI Recommendations: Personalized product suggestions</a:t>
            </a:r>
          </a:p>
          <a:p>
            <a:pPr marL="285750" indent="-285750">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 Integration: Quality monitoring during transit</a:t>
            </a:r>
          </a:p>
          <a:p>
            <a:pPr marL="285750" indent="-285750">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Multi-language Support: Regional language interfaces</a:t>
            </a:r>
          </a:p>
        </p:txBody>
      </p:sp>
    </p:spTree>
    <p:extLst>
      <p:ext uri="{BB962C8B-B14F-4D97-AF65-F5344CB8AC3E}">
        <p14:creationId xmlns:p14="http://schemas.microsoft.com/office/powerpoint/2010/main" xmlns="" val="402502494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endParaRPr lang="en-IN" sz="3200" dirty="0"/>
          </a:p>
        </p:txBody>
      </p:sp>
      <p:sp>
        <p:nvSpPr>
          <p:cNvPr id="3" name="Rectangle 2"/>
          <p:cNvSpPr/>
          <p:nvPr/>
        </p:nvSpPr>
        <p:spPr>
          <a:xfrm>
            <a:off x="3971013" y="514013"/>
            <a:ext cx="4259499" cy="584775"/>
          </a:xfrm>
          <a:prstGeom prst="rect">
            <a:avLst/>
          </a:prstGeom>
        </p:spPr>
        <p:txBody>
          <a:bodyPr wrap="none">
            <a:spAutoFit/>
          </a:bodyPr>
          <a:lstStyle/>
          <a:p>
            <a:r>
              <a:rPr lang="en-US" sz="3200" b="1" dirty="0" smtClean="0">
                <a:latin typeface="Times New Roman" panose="02020603050405020304" pitchFamily="18" charset="0"/>
                <a:cs typeface="Times New Roman" panose="02020603050405020304" pitchFamily="18" charset="0"/>
              </a:rPr>
              <a:t>REFERENCE PAPER </a:t>
            </a:r>
            <a:endParaRPr lang="en-IN" sz="3200" dirty="0"/>
          </a:p>
        </p:txBody>
      </p:sp>
      <p:sp>
        <p:nvSpPr>
          <p:cNvPr id="4" name="Rectangle 3"/>
          <p:cNvSpPr/>
          <p:nvPr/>
        </p:nvSpPr>
        <p:spPr>
          <a:xfrm>
            <a:off x="792480" y="1528409"/>
            <a:ext cx="10911840" cy="3724096"/>
          </a:xfrm>
          <a:prstGeom prst="rect">
            <a:avLst/>
          </a:prstGeom>
        </p:spPr>
        <p:txBody>
          <a:bodyPr wrap="square">
            <a:spAutoFit/>
          </a:bodyPr>
          <a:lstStyle/>
          <a:p>
            <a:pPr marL="285750" lvl="0" indent="-285750" algn="just">
              <a:lnSpc>
                <a:spcPct val="150000"/>
              </a:lnSpc>
              <a:spcAft>
                <a:spcPts val="800"/>
              </a:spcAft>
              <a:buFont typeface="Wingdings" panose="05000000000000000000" pitchFamily="2" charset="2"/>
              <a:buChar char="Ø"/>
              <a:tabLst>
                <a:tab pos="270510" algn="l"/>
                <a:tab pos="457200" algn="l"/>
                <a:tab pos="695325" algn="l"/>
              </a:tabLst>
            </a:pPr>
            <a:r>
              <a:rPr lang="en-IN" dirty="0">
                <a:solidFill>
                  <a:srgbClr val="000000"/>
                </a:solidFill>
                <a:latin typeface="Times New Roman" panose="02020603050405020304" pitchFamily="18" charset="0"/>
                <a:ea typeface="Times New Roman" panose="02020603050405020304" pitchFamily="18" charset="0"/>
              </a:rPr>
              <a:t>Sharma, A., &amp; Patel, R. (2024). Digital Disintermediation in Agricultural Markets. </a:t>
            </a:r>
            <a:r>
              <a:rPr lang="en-IN" i="1" dirty="0">
                <a:solidFill>
                  <a:srgbClr val="000000"/>
                </a:solidFill>
                <a:latin typeface="Times New Roman" panose="02020603050405020304" pitchFamily="18" charset="0"/>
                <a:ea typeface="Times New Roman" panose="02020603050405020304" pitchFamily="18" charset="0"/>
              </a:rPr>
              <a:t>Journal of Agricultural Economics</a:t>
            </a:r>
            <a:r>
              <a:rPr lang="en-IN" dirty="0">
                <a:solidFill>
                  <a:srgbClr val="000000"/>
                </a:solidFill>
                <a:latin typeface="Times New Roman" panose="02020603050405020304" pitchFamily="18" charset="0"/>
                <a:ea typeface="Times New Roman" panose="02020603050405020304" pitchFamily="18" charset="0"/>
              </a:rPr>
              <a:t>, 75(2), 123-145.</a:t>
            </a:r>
            <a:endParaRPr lang="en-IN" sz="1100" dirty="0">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Wingdings" panose="05000000000000000000" pitchFamily="2" charset="2"/>
              <a:buChar char="Ø"/>
              <a:tabLst>
                <a:tab pos="270510" algn="l"/>
                <a:tab pos="457200" algn="l"/>
                <a:tab pos="695325" algn="l"/>
              </a:tabLst>
            </a:pPr>
            <a:r>
              <a:rPr lang="en-IN" dirty="0">
                <a:solidFill>
                  <a:srgbClr val="000000"/>
                </a:solidFill>
                <a:latin typeface="Times New Roman" panose="02020603050405020304" pitchFamily="18" charset="0"/>
                <a:ea typeface="Times New Roman" panose="02020603050405020304" pitchFamily="18" charset="0"/>
              </a:rPr>
              <a:t>Chen, L., &amp; Williams, M. (2024). Consumer Willingness to Pay for Direct-from-Farm Products. </a:t>
            </a:r>
            <a:r>
              <a:rPr lang="en-IN" i="1" dirty="0">
                <a:solidFill>
                  <a:srgbClr val="000000"/>
                </a:solidFill>
                <a:latin typeface="Times New Roman" panose="02020603050405020304" pitchFamily="18" charset="0"/>
                <a:ea typeface="Times New Roman" panose="02020603050405020304" pitchFamily="18" charset="0"/>
              </a:rPr>
              <a:t>Food Quality and Preference</a:t>
            </a:r>
            <a:r>
              <a:rPr lang="en-IN" dirty="0">
                <a:solidFill>
                  <a:srgbClr val="000000"/>
                </a:solidFill>
                <a:latin typeface="Times New Roman" panose="02020603050405020304" pitchFamily="18" charset="0"/>
                <a:ea typeface="Times New Roman" panose="02020603050405020304" pitchFamily="18" charset="0"/>
              </a:rPr>
              <a:t>, 112, 104-118.</a:t>
            </a:r>
            <a:endParaRPr lang="en-IN" sz="1100" dirty="0">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Wingdings" panose="05000000000000000000" pitchFamily="2" charset="2"/>
              <a:buChar char="Ø"/>
              <a:tabLst>
                <a:tab pos="270510" algn="l"/>
                <a:tab pos="457200" algn="l"/>
                <a:tab pos="695325" algn="l"/>
              </a:tabLst>
            </a:pPr>
            <a:r>
              <a:rPr lang="en-IN" dirty="0">
                <a:solidFill>
                  <a:srgbClr val="000000"/>
                </a:solidFill>
                <a:latin typeface="Times New Roman" panose="02020603050405020304" pitchFamily="18" charset="0"/>
                <a:ea typeface="Times New Roman" panose="02020603050405020304" pitchFamily="18" charset="0"/>
              </a:rPr>
              <a:t>Kumar, S., &amp; Zhang, Y. (2024). Mobile Technology Adoption Among Smallholder Farmers. </a:t>
            </a:r>
            <a:r>
              <a:rPr lang="en-IN" i="1" dirty="0">
                <a:solidFill>
                  <a:srgbClr val="000000"/>
                </a:solidFill>
                <a:latin typeface="Times New Roman" panose="02020603050405020304" pitchFamily="18" charset="0"/>
                <a:ea typeface="Times New Roman" panose="02020603050405020304" pitchFamily="18" charset="0"/>
              </a:rPr>
              <a:t>Information Technology for Development</a:t>
            </a:r>
            <a:r>
              <a:rPr lang="en-IN" dirty="0">
                <a:solidFill>
                  <a:srgbClr val="000000"/>
                </a:solidFill>
                <a:latin typeface="Times New Roman" panose="02020603050405020304" pitchFamily="18" charset="0"/>
                <a:ea typeface="Times New Roman" panose="02020603050405020304" pitchFamily="18" charset="0"/>
              </a:rPr>
              <a:t>, 30(1), 45-67.</a:t>
            </a:r>
            <a:endParaRPr lang="en-IN" sz="1100" dirty="0">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Wingdings" panose="05000000000000000000" pitchFamily="2" charset="2"/>
              <a:buChar char="Ø"/>
              <a:tabLst>
                <a:tab pos="270510" algn="l"/>
                <a:tab pos="457200" algn="l"/>
                <a:tab pos="695325" algn="l"/>
              </a:tabLst>
            </a:pPr>
            <a:r>
              <a:rPr lang="en-IN" dirty="0">
                <a:solidFill>
                  <a:srgbClr val="000000"/>
                </a:solidFill>
                <a:latin typeface="Times New Roman" panose="02020603050405020304" pitchFamily="18" charset="0"/>
                <a:ea typeface="Times New Roman" panose="02020603050405020304" pitchFamily="18" charset="0"/>
              </a:rPr>
              <a:t>Garcia, M., &amp; Schmidt, T. (2025). Sustainability Impacts of Short Food Supply Chains. </a:t>
            </a:r>
            <a:r>
              <a:rPr lang="en-IN" i="1" dirty="0">
                <a:solidFill>
                  <a:srgbClr val="000000"/>
                </a:solidFill>
                <a:latin typeface="Times New Roman" panose="02020603050405020304" pitchFamily="18" charset="0"/>
                <a:ea typeface="Times New Roman" panose="02020603050405020304" pitchFamily="18" charset="0"/>
              </a:rPr>
              <a:t>Sustainable Production and Consumption</a:t>
            </a:r>
            <a:r>
              <a:rPr lang="en-IN" dirty="0">
                <a:solidFill>
                  <a:srgbClr val="000000"/>
                </a:solidFill>
                <a:latin typeface="Times New Roman" panose="02020603050405020304" pitchFamily="18" charset="0"/>
                <a:ea typeface="Times New Roman" panose="02020603050405020304" pitchFamily="18" charset="0"/>
              </a:rPr>
              <a:t>, 35, 78-92.</a:t>
            </a:r>
            <a:endParaRPr lang="en-IN" sz="1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xmlns="" val="212729614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endParaRPr lang="en-IN" sz="3200" dirty="0"/>
          </a:p>
        </p:txBody>
      </p:sp>
      <p:sp>
        <p:nvSpPr>
          <p:cNvPr id="3" name="Rectangle 2"/>
          <p:cNvSpPr/>
          <p:nvPr/>
        </p:nvSpPr>
        <p:spPr>
          <a:xfrm>
            <a:off x="829056" y="1292098"/>
            <a:ext cx="10180320" cy="3724096"/>
          </a:xfrm>
          <a:prstGeom prst="rect">
            <a:avLst/>
          </a:prstGeom>
        </p:spPr>
        <p:txBody>
          <a:bodyPr wrap="square">
            <a:spAutoFit/>
          </a:bodyPr>
          <a:lstStyle/>
          <a:p>
            <a:pPr marL="285750" lvl="0" indent="-285750" algn="just">
              <a:lnSpc>
                <a:spcPct val="150000"/>
              </a:lnSpc>
              <a:spcAft>
                <a:spcPts val="800"/>
              </a:spcAft>
              <a:buFont typeface="Wingdings" panose="05000000000000000000" pitchFamily="2" charset="2"/>
              <a:buChar char="Ø"/>
              <a:tabLst>
                <a:tab pos="270510" algn="l"/>
                <a:tab pos="457200" algn="l"/>
                <a:tab pos="695325" algn="l"/>
              </a:tabLst>
            </a:pPr>
            <a:r>
              <a:rPr lang="en-IN" dirty="0">
                <a:solidFill>
                  <a:srgbClr val="000000"/>
                </a:solidFill>
                <a:latin typeface="Times New Roman" panose="02020603050405020304" pitchFamily="18" charset="0"/>
                <a:ea typeface="Times New Roman" panose="02020603050405020304" pitchFamily="18" charset="0"/>
              </a:rPr>
              <a:t>Oliveira, J., &amp; Kim, H. (2024). Trust Mechanisms in Digital Agricultural Marketplaces. </a:t>
            </a:r>
            <a:r>
              <a:rPr lang="en-IN" i="1" dirty="0">
                <a:solidFill>
                  <a:srgbClr val="000000"/>
                </a:solidFill>
                <a:latin typeface="Times New Roman" panose="02020603050405020304" pitchFamily="18" charset="0"/>
                <a:ea typeface="Times New Roman" panose="02020603050405020304" pitchFamily="18" charset="0"/>
              </a:rPr>
              <a:t>Electronic Commerce Research</a:t>
            </a:r>
            <a:r>
              <a:rPr lang="en-IN" dirty="0">
                <a:solidFill>
                  <a:srgbClr val="000000"/>
                </a:solidFill>
                <a:latin typeface="Times New Roman" panose="02020603050405020304" pitchFamily="18" charset="0"/>
                <a:ea typeface="Times New Roman" panose="02020603050405020304" pitchFamily="18" charset="0"/>
              </a:rPr>
              <a:t>, 24(3), 567-589.</a:t>
            </a:r>
            <a:endParaRPr lang="en-IN" sz="1100" dirty="0">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Wingdings" panose="05000000000000000000" pitchFamily="2" charset="2"/>
              <a:buChar char="Ø"/>
              <a:tabLst>
                <a:tab pos="270510" algn="l"/>
                <a:tab pos="457200" algn="l"/>
                <a:tab pos="695325" algn="l"/>
              </a:tabLst>
            </a:pPr>
            <a:r>
              <a:rPr lang="en-IN" dirty="0">
                <a:solidFill>
                  <a:srgbClr val="000000"/>
                </a:solidFill>
                <a:latin typeface="Times New Roman" panose="02020603050405020304" pitchFamily="18" charset="0"/>
                <a:ea typeface="Times New Roman" panose="02020603050405020304" pitchFamily="18" charset="0"/>
              </a:rPr>
              <a:t>Wang, X., &amp; Gupta, P. (2025). Real-Time Inventory Management for Perishable Goods. </a:t>
            </a:r>
            <a:r>
              <a:rPr lang="en-IN" i="1" dirty="0">
                <a:solidFill>
                  <a:srgbClr val="000000"/>
                </a:solidFill>
                <a:latin typeface="Times New Roman" panose="02020603050405020304" pitchFamily="18" charset="0"/>
                <a:ea typeface="Times New Roman" panose="02020603050405020304" pitchFamily="18" charset="0"/>
              </a:rPr>
              <a:t>Computers and Electronics in Agriculture</a:t>
            </a:r>
            <a:r>
              <a:rPr lang="en-IN" dirty="0">
                <a:solidFill>
                  <a:srgbClr val="000000"/>
                </a:solidFill>
                <a:latin typeface="Times New Roman" panose="02020603050405020304" pitchFamily="18" charset="0"/>
                <a:ea typeface="Times New Roman" panose="02020603050405020304" pitchFamily="18" charset="0"/>
              </a:rPr>
              <a:t>, 178, 105-120.</a:t>
            </a:r>
            <a:endParaRPr lang="en-IN" sz="1100" dirty="0">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Wingdings" panose="05000000000000000000" pitchFamily="2" charset="2"/>
              <a:buChar char="Ø"/>
              <a:tabLst>
                <a:tab pos="270510" algn="l"/>
                <a:tab pos="457200" algn="l"/>
                <a:tab pos="695325" algn="l"/>
              </a:tabLst>
            </a:pPr>
            <a:r>
              <a:rPr lang="en-IN" dirty="0">
                <a:solidFill>
                  <a:srgbClr val="000000"/>
                </a:solidFill>
                <a:latin typeface="Times New Roman" panose="02020603050405020304" pitchFamily="18" charset="0"/>
                <a:ea typeface="Times New Roman" panose="02020603050405020304" pitchFamily="18" charset="0"/>
              </a:rPr>
              <a:t>Singh, R., &amp; O'Brien, K. (2024). Digital Payment Systems for Rural E-commerce. </a:t>
            </a:r>
            <a:r>
              <a:rPr lang="en-IN" i="1" dirty="0">
                <a:solidFill>
                  <a:srgbClr val="000000"/>
                </a:solidFill>
                <a:latin typeface="Times New Roman" panose="02020603050405020304" pitchFamily="18" charset="0"/>
                <a:ea typeface="Times New Roman" panose="02020603050405020304" pitchFamily="18" charset="0"/>
              </a:rPr>
              <a:t>Journal of Rural Studies</a:t>
            </a:r>
            <a:r>
              <a:rPr lang="en-IN" dirty="0">
                <a:solidFill>
                  <a:srgbClr val="000000"/>
                </a:solidFill>
                <a:latin typeface="Times New Roman" panose="02020603050405020304" pitchFamily="18" charset="0"/>
                <a:ea typeface="Times New Roman" panose="02020603050405020304" pitchFamily="18" charset="0"/>
              </a:rPr>
              <a:t>, 95, 234-250.</a:t>
            </a:r>
            <a:endParaRPr lang="en-IN" sz="1100" dirty="0">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Wingdings" panose="05000000000000000000" pitchFamily="2" charset="2"/>
              <a:buChar char="Ø"/>
              <a:tabLst>
                <a:tab pos="270510" algn="l"/>
                <a:tab pos="457200" algn="l"/>
                <a:tab pos="695325" algn="l"/>
              </a:tabLst>
            </a:pPr>
            <a:r>
              <a:rPr lang="en-IN" dirty="0">
                <a:solidFill>
                  <a:srgbClr val="000000"/>
                </a:solidFill>
                <a:latin typeface="Times New Roman" panose="02020603050405020304" pitchFamily="18" charset="0"/>
                <a:ea typeface="Times New Roman" panose="02020603050405020304" pitchFamily="18" charset="0"/>
              </a:rPr>
              <a:t>Martinez, L., &amp; Chen, W. (2025). Social Influence in Agricultural Digital Marketplaces. </a:t>
            </a:r>
            <a:r>
              <a:rPr lang="en-IN" i="1" dirty="0">
                <a:solidFill>
                  <a:srgbClr val="000000"/>
                </a:solidFill>
                <a:latin typeface="Times New Roman" panose="02020603050405020304" pitchFamily="18" charset="0"/>
                <a:ea typeface="Times New Roman" panose="02020603050405020304" pitchFamily="18" charset="0"/>
              </a:rPr>
              <a:t>Social Networks</a:t>
            </a:r>
            <a:r>
              <a:rPr lang="en-IN" dirty="0">
                <a:solidFill>
                  <a:srgbClr val="000000"/>
                </a:solidFill>
                <a:latin typeface="Times New Roman" panose="02020603050405020304" pitchFamily="18" charset="0"/>
                <a:ea typeface="Times New Roman" panose="02020603050405020304" pitchFamily="18" charset="0"/>
              </a:rPr>
              <a:t>, 68, 89-102.</a:t>
            </a:r>
            <a:endParaRPr lang="en-IN" sz="1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xmlns="" val="332563137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71493" y="2552044"/>
            <a:ext cx="6096000" cy="707886"/>
          </a:xfrm>
          <a:prstGeom prst="rect">
            <a:avLst/>
          </a:prstGeom>
        </p:spPr>
        <p:txBody>
          <a:bodyPr>
            <a:spAutoFit/>
          </a:bodyPr>
          <a:lstStyle/>
          <a:p>
            <a:r>
              <a:rPr lang="en-US" sz="4000" b="1" dirty="0" smtClean="0">
                <a:latin typeface="Times New Roman" panose="02020603050405020304" pitchFamily="18" charset="0"/>
                <a:cs typeface="Times New Roman" panose="02020603050405020304" pitchFamily="18" charset="0"/>
              </a:rPr>
              <a:t> Thank You…</a:t>
            </a:r>
          </a:p>
        </p:txBody>
      </p:sp>
      <p:sp>
        <p:nvSpPr>
          <p:cNvPr id="3" name="Rectangle 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xmlns="" val="46972190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2998</TotalTime>
  <Words>1164</Words>
  <Application>Microsoft Office PowerPoint</Application>
  <PresentationFormat>Custom</PresentationFormat>
  <Paragraphs>358</Paragraphs>
  <Slides>49</Slides>
  <Notes>0</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DIRECT FARM MARKET</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USECASE- DIAGRAM </vt:lpstr>
      <vt:lpstr>SEQUENCE DIAGRAM </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FRAUD-X: An Integrated AI, Blockchain, and Cybersecurity Framework With Early Warning Systems for Mitigating Online Financial Fraud</dc:title>
  <dc:creator>Lavanya P</dc:creator>
  <cp:lastModifiedBy>LARA JERONE</cp:lastModifiedBy>
  <cp:revision>163</cp:revision>
  <dcterms:created xsi:type="dcterms:W3CDTF">2025-07-12T06:07:44Z</dcterms:created>
  <dcterms:modified xsi:type="dcterms:W3CDTF">2025-12-29T10:53:50Z</dcterms:modified>
</cp:coreProperties>
</file>